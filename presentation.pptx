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1" d="100"/>
          <a:sy n="51" d="100"/>
        </p:scale>
        <p:origin x="869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6594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3" Type="http://schemas.openxmlformats.org/officeDocument/2006/relationships/image" Target="../media/image10.png"/><Relationship Id="rId21" Type="http://schemas.openxmlformats.org/officeDocument/2006/relationships/image" Target="../media/image38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12.png"/><Relationship Id="rId15" Type="http://schemas.openxmlformats.org/officeDocument/2006/relationships/image" Target="../media/image32.png"/><Relationship Id="rId23" Type="http://schemas.openxmlformats.org/officeDocument/2006/relationships/image" Target="../media/image40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4" Type="http://schemas.openxmlformats.org/officeDocument/2006/relationships/image" Target="../media/image1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Relationship Id="rId22" Type="http://schemas.openxmlformats.org/officeDocument/2006/relationships/image" Target="../media/image3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18" Type="http://schemas.openxmlformats.org/officeDocument/2006/relationships/image" Target="../media/image53.png"/><Relationship Id="rId3" Type="http://schemas.openxmlformats.org/officeDocument/2006/relationships/image" Target="../media/image10.png"/><Relationship Id="rId21" Type="http://schemas.openxmlformats.org/officeDocument/2006/relationships/image" Target="../media/image56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17" Type="http://schemas.openxmlformats.org/officeDocument/2006/relationships/image" Target="../media/image52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1.png"/><Relationship Id="rId20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12.png"/><Relationship Id="rId15" Type="http://schemas.openxmlformats.org/officeDocument/2006/relationships/image" Target="../media/image50.png"/><Relationship Id="rId23" Type="http://schemas.openxmlformats.org/officeDocument/2006/relationships/image" Target="../media/image58.png"/><Relationship Id="rId10" Type="http://schemas.openxmlformats.org/officeDocument/2006/relationships/image" Target="../media/image45.png"/><Relationship Id="rId19" Type="http://schemas.openxmlformats.org/officeDocument/2006/relationships/image" Target="../media/image54.png"/><Relationship Id="rId4" Type="http://schemas.openxmlformats.org/officeDocument/2006/relationships/image" Target="../media/image11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Relationship Id="rId22" Type="http://schemas.openxmlformats.org/officeDocument/2006/relationships/image" Target="../media/image5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7.png"/><Relationship Id="rId3" Type="http://schemas.openxmlformats.org/officeDocument/2006/relationships/image" Target="../media/image59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12.png"/><Relationship Id="rId15" Type="http://schemas.openxmlformats.org/officeDocument/2006/relationships/image" Target="../media/image69.png"/><Relationship Id="rId10" Type="http://schemas.openxmlformats.org/officeDocument/2006/relationships/image" Target="../media/image64.png"/><Relationship Id="rId4" Type="http://schemas.openxmlformats.org/officeDocument/2006/relationships/image" Target="../media/image11.png"/><Relationship Id="rId9" Type="http://schemas.openxmlformats.org/officeDocument/2006/relationships/image" Target="../media/image63.png"/><Relationship Id="rId14" Type="http://schemas.openxmlformats.org/officeDocument/2006/relationships/image" Target="../media/image6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9.png"/><Relationship Id="rId3" Type="http://schemas.openxmlformats.org/officeDocument/2006/relationships/image" Target="../media/image71.png"/><Relationship Id="rId7" Type="http://schemas.openxmlformats.org/officeDocument/2006/relationships/image" Target="../media/image73.png"/><Relationship Id="rId12" Type="http://schemas.openxmlformats.org/officeDocument/2006/relationships/image" Target="../media/image7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5" Type="http://schemas.openxmlformats.org/officeDocument/2006/relationships/image" Target="../media/image12.png"/><Relationship Id="rId15" Type="http://schemas.openxmlformats.org/officeDocument/2006/relationships/image" Target="../media/image81.png"/><Relationship Id="rId10" Type="http://schemas.openxmlformats.org/officeDocument/2006/relationships/image" Target="../media/image76.png"/><Relationship Id="rId4" Type="http://schemas.openxmlformats.org/officeDocument/2006/relationships/image" Target="../media/image11.png"/><Relationship Id="rId9" Type="http://schemas.openxmlformats.org/officeDocument/2006/relationships/image" Target="../media/image75.png"/><Relationship Id="rId14" Type="http://schemas.openxmlformats.org/officeDocument/2006/relationships/image" Target="../media/image8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image" Target="../media/image86.png"/><Relationship Id="rId3" Type="http://schemas.openxmlformats.org/officeDocument/2006/relationships/image" Target="../media/image10.png"/><Relationship Id="rId7" Type="http://schemas.openxmlformats.org/officeDocument/2006/relationships/image" Target="../media/image83.png"/><Relationship Id="rId12" Type="http://schemas.openxmlformats.org/officeDocument/2006/relationships/image" Target="../media/image55.png"/><Relationship Id="rId17" Type="http://schemas.openxmlformats.org/officeDocument/2006/relationships/image" Target="../media/image90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8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11" Type="http://schemas.openxmlformats.org/officeDocument/2006/relationships/image" Target="../media/image77.png"/><Relationship Id="rId5" Type="http://schemas.openxmlformats.org/officeDocument/2006/relationships/image" Target="../media/image12.png"/><Relationship Id="rId15" Type="http://schemas.openxmlformats.org/officeDocument/2006/relationships/image" Target="../media/image88.png"/><Relationship Id="rId10" Type="http://schemas.openxmlformats.org/officeDocument/2006/relationships/image" Target="../media/image56.png"/><Relationship Id="rId4" Type="http://schemas.openxmlformats.org/officeDocument/2006/relationships/image" Target="../media/image11.png"/><Relationship Id="rId9" Type="http://schemas.openxmlformats.org/officeDocument/2006/relationships/image" Target="../media/image85.png"/><Relationship Id="rId14" Type="http://schemas.openxmlformats.org/officeDocument/2006/relationships/image" Target="../media/image8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98.png"/><Relationship Id="rId3" Type="http://schemas.openxmlformats.org/officeDocument/2006/relationships/image" Target="../media/image10.png"/><Relationship Id="rId7" Type="http://schemas.openxmlformats.org/officeDocument/2006/relationships/image" Target="../media/image92.png"/><Relationship Id="rId12" Type="http://schemas.openxmlformats.org/officeDocument/2006/relationships/image" Target="../media/image97.png"/><Relationship Id="rId17" Type="http://schemas.openxmlformats.org/officeDocument/2006/relationships/image" Target="../media/image102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0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11" Type="http://schemas.openxmlformats.org/officeDocument/2006/relationships/image" Target="../media/image96.png"/><Relationship Id="rId5" Type="http://schemas.openxmlformats.org/officeDocument/2006/relationships/image" Target="../media/image12.png"/><Relationship Id="rId15" Type="http://schemas.openxmlformats.org/officeDocument/2006/relationships/image" Target="../media/image100.png"/><Relationship Id="rId10" Type="http://schemas.openxmlformats.org/officeDocument/2006/relationships/image" Target="../media/image95.png"/><Relationship Id="rId4" Type="http://schemas.openxmlformats.org/officeDocument/2006/relationships/image" Target="../media/image11.png"/><Relationship Id="rId9" Type="http://schemas.openxmlformats.org/officeDocument/2006/relationships/image" Target="../media/image94.png"/><Relationship Id="rId14" Type="http://schemas.openxmlformats.org/officeDocument/2006/relationships/image" Target="../media/image9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13" Type="http://schemas.openxmlformats.org/officeDocument/2006/relationships/image" Target="../media/image110.png"/><Relationship Id="rId18" Type="http://schemas.openxmlformats.org/officeDocument/2006/relationships/image" Target="../media/image25.png"/><Relationship Id="rId3" Type="http://schemas.openxmlformats.org/officeDocument/2006/relationships/image" Target="../media/image59.png"/><Relationship Id="rId7" Type="http://schemas.openxmlformats.org/officeDocument/2006/relationships/image" Target="../media/image104.png"/><Relationship Id="rId12" Type="http://schemas.openxmlformats.org/officeDocument/2006/relationships/image" Target="../media/image109.png"/><Relationship Id="rId17" Type="http://schemas.openxmlformats.org/officeDocument/2006/relationships/image" Target="../media/image113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3.png"/><Relationship Id="rId11" Type="http://schemas.openxmlformats.org/officeDocument/2006/relationships/image" Target="../media/image108.png"/><Relationship Id="rId5" Type="http://schemas.openxmlformats.org/officeDocument/2006/relationships/image" Target="../media/image12.png"/><Relationship Id="rId15" Type="http://schemas.openxmlformats.org/officeDocument/2006/relationships/image" Target="../media/image18.png"/><Relationship Id="rId10" Type="http://schemas.openxmlformats.org/officeDocument/2006/relationships/image" Target="../media/image107.png"/><Relationship Id="rId19" Type="http://schemas.openxmlformats.org/officeDocument/2006/relationships/image" Target="../media/image114.png"/><Relationship Id="rId4" Type="http://schemas.openxmlformats.org/officeDocument/2006/relationships/image" Target="../media/image11.png"/><Relationship Id="rId9" Type="http://schemas.openxmlformats.org/officeDocument/2006/relationships/image" Target="../media/image106.png"/><Relationship Id="rId14" Type="http://schemas.openxmlformats.org/officeDocument/2006/relationships/image" Target="../media/image1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13" Type="http://schemas.openxmlformats.org/officeDocument/2006/relationships/image" Target="../media/image122.png"/><Relationship Id="rId18" Type="http://schemas.openxmlformats.org/officeDocument/2006/relationships/image" Target="../media/image127.png"/><Relationship Id="rId3" Type="http://schemas.openxmlformats.org/officeDocument/2006/relationships/image" Target="../media/image10.png"/><Relationship Id="rId7" Type="http://schemas.openxmlformats.org/officeDocument/2006/relationships/image" Target="../media/image116.png"/><Relationship Id="rId12" Type="http://schemas.openxmlformats.org/officeDocument/2006/relationships/image" Target="../media/image121.png"/><Relationship Id="rId17" Type="http://schemas.openxmlformats.org/officeDocument/2006/relationships/image" Target="../media/image126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5.png"/><Relationship Id="rId11" Type="http://schemas.openxmlformats.org/officeDocument/2006/relationships/image" Target="../media/image120.png"/><Relationship Id="rId5" Type="http://schemas.openxmlformats.org/officeDocument/2006/relationships/image" Target="../media/image12.png"/><Relationship Id="rId15" Type="http://schemas.openxmlformats.org/officeDocument/2006/relationships/image" Target="../media/image124.png"/><Relationship Id="rId10" Type="http://schemas.openxmlformats.org/officeDocument/2006/relationships/image" Target="../media/image119.png"/><Relationship Id="rId19" Type="http://schemas.openxmlformats.org/officeDocument/2006/relationships/image" Target="../media/image128.png"/><Relationship Id="rId4" Type="http://schemas.openxmlformats.org/officeDocument/2006/relationships/image" Target="../media/image11.png"/><Relationship Id="rId9" Type="http://schemas.openxmlformats.org/officeDocument/2006/relationships/image" Target="../media/image118.png"/><Relationship Id="rId14" Type="http://schemas.openxmlformats.org/officeDocument/2006/relationships/image" Target="../media/image1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9416" y="1000125"/>
            <a:ext cx="2474668" cy="14287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664" y="1797339"/>
            <a:ext cx="2685172" cy="97732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2584" y="4202212"/>
            <a:ext cx="2760133" cy="7395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4863" y="4225117"/>
            <a:ext cx="2188972" cy="1836766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0" y="1714500"/>
            <a:ext cx="57150" cy="571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86850" y="2286000"/>
            <a:ext cx="57150" cy="571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63901" y="4514850"/>
            <a:ext cx="57150" cy="571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70949" y="5086350"/>
            <a:ext cx="57150" cy="571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3429000"/>
            <a:ext cx="57150" cy="571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67788" y="6096000"/>
            <a:ext cx="609600" cy="381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609600" y="1066800"/>
            <a:ext cx="10972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kern="0" spc="-72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AirFly Insights</a:t>
            </a:r>
            <a:endParaRPr lang="en-US" sz="3600" dirty="0"/>
          </a:p>
        </p:txBody>
      </p:sp>
      <p:sp>
        <p:nvSpPr>
          <p:cNvPr id="15" name="Text 1"/>
          <p:cNvSpPr/>
          <p:nvPr/>
        </p:nvSpPr>
        <p:spPr>
          <a:xfrm>
            <a:off x="609600" y="1676400"/>
            <a:ext cx="1316736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Visualization and Analysis of Airline Operations</a:t>
            </a:r>
            <a:endParaRPr lang="en-US" sz="2250" dirty="0"/>
          </a:p>
        </p:txBody>
      </p:sp>
      <p:sp>
        <p:nvSpPr>
          <p:cNvPr id="16" name="Text 2"/>
          <p:cNvSpPr/>
          <p:nvPr/>
        </p:nvSpPr>
        <p:spPr>
          <a:xfrm>
            <a:off x="609600" y="2324100"/>
            <a:ext cx="73152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CCFBF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Transforming large-scale airline flight data into actionable visual insights for operational excellence</a:t>
            </a:r>
            <a:endParaRPr lang="en-US" sz="1500" dirty="0"/>
          </a:p>
        </p:txBody>
      </p:sp>
      <p:sp>
        <p:nvSpPr>
          <p:cNvPr id="17" name="Text 3"/>
          <p:cNvSpPr/>
          <p:nvPr/>
        </p:nvSpPr>
        <p:spPr>
          <a:xfrm>
            <a:off x="2894960" y="4057650"/>
            <a:ext cx="1688247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7F5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5M+</a:t>
            </a:r>
            <a:endParaRPr lang="en-US" sz="2700" dirty="0"/>
          </a:p>
        </p:txBody>
      </p:sp>
      <p:sp>
        <p:nvSpPr>
          <p:cNvPr id="18" name="Text 4"/>
          <p:cNvSpPr/>
          <p:nvPr/>
        </p:nvSpPr>
        <p:spPr>
          <a:xfrm>
            <a:off x="2894960" y="4514850"/>
            <a:ext cx="168824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CCFBF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Flights Analyzed</a:t>
            </a:r>
            <a:endParaRPr lang="en-US" sz="1350" dirty="0"/>
          </a:p>
        </p:txBody>
      </p:sp>
      <p:sp>
        <p:nvSpPr>
          <p:cNvPr id="19" name="Text 5"/>
          <p:cNvSpPr/>
          <p:nvPr/>
        </p:nvSpPr>
        <p:spPr>
          <a:xfrm>
            <a:off x="4847005" y="4057650"/>
            <a:ext cx="2461379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9DC18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2015-2019</a:t>
            </a:r>
            <a:endParaRPr lang="en-US" sz="2700" dirty="0"/>
          </a:p>
        </p:txBody>
      </p:sp>
      <p:sp>
        <p:nvSpPr>
          <p:cNvPr id="20" name="Text 6"/>
          <p:cNvSpPr/>
          <p:nvPr/>
        </p:nvSpPr>
        <p:spPr>
          <a:xfrm>
            <a:off x="4847005" y="4514850"/>
            <a:ext cx="246137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CCFBF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Period</a:t>
            </a:r>
            <a:endParaRPr lang="en-US" sz="1350" dirty="0"/>
          </a:p>
        </p:txBody>
      </p:sp>
      <p:sp>
        <p:nvSpPr>
          <p:cNvPr id="21" name="Text 7"/>
          <p:cNvSpPr/>
          <p:nvPr/>
        </p:nvSpPr>
        <p:spPr>
          <a:xfrm>
            <a:off x="7568535" y="4057650"/>
            <a:ext cx="1732002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DAA52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366</a:t>
            </a:r>
            <a:endParaRPr lang="en-US" sz="2700" dirty="0"/>
          </a:p>
        </p:txBody>
      </p:sp>
      <p:sp>
        <p:nvSpPr>
          <p:cNvPr id="22" name="Text 8"/>
          <p:cNvSpPr/>
          <p:nvPr/>
        </p:nvSpPr>
        <p:spPr>
          <a:xfrm>
            <a:off x="7568535" y="4514850"/>
            <a:ext cx="173200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CCFBF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Airports Covered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914400"/>
            <a:ext cx="12192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257300"/>
            <a:ext cx="11430000" cy="990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524000"/>
            <a:ext cx="171450" cy="190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1427" y="1790700"/>
            <a:ext cx="171450" cy="190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2552700"/>
            <a:ext cx="5562600" cy="2514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2819400"/>
            <a:ext cx="228600" cy="228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32766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36576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42672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464820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8400" y="2552700"/>
            <a:ext cx="5562600" cy="2514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7000" y="2819400"/>
            <a:ext cx="228600" cy="228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3276600"/>
            <a:ext cx="1143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000" y="3657600"/>
            <a:ext cx="171450" cy="1524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381000" y="4572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Project Overview and Objectives</a:t>
            </a:r>
            <a:endParaRPr lang="en-US" sz="2700" dirty="0"/>
          </a:p>
        </p:txBody>
      </p:sp>
      <p:sp>
        <p:nvSpPr>
          <p:cNvPr id="19" name="Text 1"/>
          <p:cNvSpPr/>
          <p:nvPr/>
        </p:nvSpPr>
        <p:spPr>
          <a:xfrm>
            <a:off x="857250" y="1485900"/>
            <a:ext cx="109728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The AirFly Insights project aims to analyze large-scale airline flight data to uncover operational trends, delay patterns, and cancellation reasons through data visualization. </a:t>
            </a:r>
            <a:endParaRPr lang="en-US" sz="1500" dirty="0"/>
          </a:p>
        </p:txBody>
      </p:sp>
      <p:sp>
        <p:nvSpPr>
          <p:cNvPr id="20" name="Text 2"/>
          <p:cNvSpPr/>
          <p:nvPr/>
        </p:nvSpPr>
        <p:spPr>
          <a:xfrm>
            <a:off x="952500" y="2781300"/>
            <a:ext cx="61264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Goals and Objectives</a:t>
            </a:r>
            <a:endParaRPr lang="en-US" sz="1800" dirty="0"/>
          </a:p>
        </p:txBody>
      </p:sp>
      <p:sp>
        <p:nvSpPr>
          <p:cNvPr id="21" name="Text 3"/>
          <p:cNvSpPr/>
          <p:nvPr/>
        </p:nvSpPr>
        <p:spPr>
          <a:xfrm>
            <a:off x="876300" y="3238500"/>
            <a:ext cx="527208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Understand and preprocess aviation datasets for analysis</a:t>
            </a:r>
            <a:endParaRPr lang="en-US" sz="1200" dirty="0"/>
          </a:p>
        </p:txBody>
      </p:sp>
      <p:sp>
        <p:nvSpPr>
          <p:cNvPr id="22" name="Text 4"/>
          <p:cNvSpPr/>
          <p:nvPr/>
        </p:nvSpPr>
        <p:spPr>
          <a:xfrm>
            <a:off x="876300" y="3619500"/>
            <a:ext cx="4838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Explore trends in flight schedules, delays, cancellations, and routes</a:t>
            </a:r>
            <a:endParaRPr lang="en-US" sz="1200" dirty="0"/>
          </a:p>
        </p:txBody>
      </p:sp>
      <p:sp>
        <p:nvSpPr>
          <p:cNvPr id="23" name="Text 5"/>
          <p:cNvSpPr/>
          <p:nvPr/>
        </p:nvSpPr>
        <p:spPr>
          <a:xfrm>
            <a:off x="876300" y="4229100"/>
            <a:ext cx="430107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Visualize key metrics using various chart types</a:t>
            </a:r>
            <a:endParaRPr lang="en-US" sz="1200" dirty="0"/>
          </a:p>
        </p:txBody>
      </p:sp>
      <p:sp>
        <p:nvSpPr>
          <p:cNvPr id="24" name="Text 6"/>
          <p:cNvSpPr/>
          <p:nvPr/>
        </p:nvSpPr>
        <p:spPr>
          <a:xfrm>
            <a:off x="876300" y="4610100"/>
            <a:ext cx="399657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Provide actionable insights for stakeholders</a:t>
            </a:r>
            <a:endParaRPr lang="en-US" sz="1200" dirty="0"/>
          </a:p>
        </p:txBody>
      </p:sp>
      <p:sp>
        <p:nvSpPr>
          <p:cNvPr id="25" name="Text 7"/>
          <p:cNvSpPr/>
          <p:nvPr/>
        </p:nvSpPr>
        <p:spPr>
          <a:xfrm>
            <a:off x="6819900" y="2781300"/>
            <a:ext cx="5105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Expected Outcomes</a:t>
            </a:r>
            <a:endParaRPr lang="en-US" sz="1800" dirty="0"/>
          </a:p>
        </p:txBody>
      </p:sp>
      <p:sp>
        <p:nvSpPr>
          <p:cNvPr id="26" name="Text 8"/>
          <p:cNvSpPr/>
          <p:nvPr/>
        </p:nvSpPr>
        <p:spPr>
          <a:xfrm>
            <a:off x="6705600" y="3238500"/>
            <a:ext cx="44310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comprehensive visual report detailing findings</a:t>
            </a:r>
            <a:endParaRPr lang="en-US" sz="1200" dirty="0"/>
          </a:p>
        </p:txBody>
      </p:sp>
      <p:sp>
        <p:nvSpPr>
          <p:cNvPr id="27" name="Text 9"/>
          <p:cNvSpPr/>
          <p:nvPr/>
        </p:nvSpPr>
        <p:spPr>
          <a:xfrm>
            <a:off x="6762750" y="3619500"/>
            <a:ext cx="432589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Interactive dashboards for exploring flight data</a:t>
            </a:r>
            <a:endParaRPr lang="en-US" sz="1200" dirty="0"/>
          </a:p>
        </p:txBody>
      </p:sp>
      <p:sp>
        <p:nvSpPr>
          <p:cNvPr id="28" name="Text 10"/>
          <p:cNvSpPr/>
          <p:nvPr/>
        </p:nvSpPr>
        <p:spPr>
          <a:xfrm>
            <a:off x="6591300" y="4000500"/>
            <a:ext cx="592020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final presentation summarizing insights and recommendations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914400"/>
            <a:ext cx="12192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181100"/>
            <a:ext cx="5562600" cy="4610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447800"/>
            <a:ext cx="200025" cy="228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1895475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2552700"/>
            <a:ext cx="2476500" cy="838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38500" y="2552700"/>
            <a:ext cx="2476500" cy="838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3543300"/>
            <a:ext cx="2476500" cy="838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38500" y="3543300"/>
            <a:ext cx="2476500" cy="838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4953000"/>
            <a:ext cx="1297781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3900" y="5019675"/>
            <a:ext cx="171450" cy="1333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83581" y="4953000"/>
            <a:ext cx="1350466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97881" y="5019675"/>
            <a:ext cx="133350" cy="1333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10248" y="4953000"/>
            <a:ext cx="1584722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524548" y="5019675"/>
            <a:ext cx="104775" cy="1333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9600" y="5295900"/>
            <a:ext cx="1993106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3900" y="5362575"/>
            <a:ext cx="133350" cy="1333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678906" y="5295900"/>
            <a:ext cx="1936254" cy="2667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793206" y="5362575"/>
            <a:ext cx="133350" cy="1333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181100"/>
            <a:ext cx="5562600" cy="46101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77000" y="1447800"/>
            <a:ext cx="200025" cy="2286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381000" y="4572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Dataset Overview and Methodology</a:t>
            </a:r>
            <a:endParaRPr lang="en-US" sz="2700" dirty="0"/>
          </a:p>
        </p:txBody>
      </p:sp>
      <p:sp>
        <p:nvSpPr>
          <p:cNvPr id="25" name="Text 1"/>
          <p:cNvSpPr/>
          <p:nvPr/>
        </p:nvSpPr>
        <p:spPr>
          <a:xfrm>
            <a:off x="923925" y="1409700"/>
            <a:ext cx="61264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Dataset Source &amp; Scope</a:t>
            </a:r>
            <a:endParaRPr lang="en-US" sz="1800" dirty="0"/>
          </a:p>
        </p:txBody>
      </p:sp>
      <p:sp>
        <p:nvSpPr>
          <p:cNvPr id="26" name="Text 2"/>
          <p:cNvSpPr/>
          <p:nvPr/>
        </p:nvSpPr>
        <p:spPr>
          <a:xfrm>
            <a:off x="838200" y="1866900"/>
            <a:ext cx="5105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Source: U.S. DOT Bureau of Transportation Statistics (BTS) archive of historical US flights</a:t>
            </a:r>
            <a:endParaRPr lang="en-US" sz="1200" dirty="0"/>
          </a:p>
        </p:txBody>
      </p:sp>
      <p:sp>
        <p:nvSpPr>
          <p:cNvPr id="27" name="Text 3"/>
          <p:cNvSpPr/>
          <p:nvPr/>
        </p:nvSpPr>
        <p:spPr>
          <a:xfrm>
            <a:off x="762000" y="2705100"/>
            <a:ext cx="21717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5M+</a:t>
            </a:r>
            <a:endParaRPr lang="en-US" sz="2250" dirty="0"/>
          </a:p>
        </p:txBody>
      </p:sp>
      <p:sp>
        <p:nvSpPr>
          <p:cNvPr id="28" name="Text 4"/>
          <p:cNvSpPr/>
          <p:nvPr/>
        </p:nvSpPr>
        <p:spPr>
          <a:xfrm>
            <a:off x="762000" y="3048000"/>
            <a:ext cx="26060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Commercial Flights (2015)</a:t>
            </a:r>
            <a:endParaRPr lang="en-US" sz="1050" dirty="0"/>
          </a:p>
        </p:txBody>
      </p:sp>
      <p:sp>
        <p:nvSpPr>
          <p:cNvPr id="29" name="Text 5"/>
          <p:cNvSpPr/>
          <p:nvPr/>
        </p:nvSpPr>
        <p:spPr>
          <a:xfrm>
            <a:off x="3390900" y="2705100"/>
            <a:ext cx="260604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5,512,904</a:t>
            </a:r>
            <a:endParaRPr lang="en-US" sz="2250" dirty="0"/>
          </a:p>
        </p:txBody>
      </p:sp>
      <p:sp>
        <p:nvSpPr>
          <p:cNvPr id="30" name="Text 6"/>
          <p:cNvSpPr/>
          <p:nvPr/>
        </p:nvSpPr>
        <p:spPr>
          <a:xfrm>
            <a:off x="3390900" y="3048000"/>
            <a:ext cx="26060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Flights (May-Dec 2019)</a:t>
            </a:r>
            <a:endParaRPr lang="en-US" sz="1050" dirty="0"/>
          </a:p>
        </p:txBody>
      </p:sp>
      <p:sp>
        <p:nvSpPr>
          <p:cNvPr id="31" name="Text 7"/>
          <p:cNvSpPr/>
          <p:nvPr/>
        </p:nvSpPr>
        <p:spPr>
          <a:xfrm>
            <a:off x="762000" y="3695700"/>
            <a:ext cx="21717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366</a:t>
            </a:r>
            <a:endParaRPr lang="en-US" sz="2250" dirty="0"/>
          </a:p>
        </p:txBody>
      </p:sp>
      <p:sp>
        <p:nvSpPr>
          <p:cNvPr id="32" name="Text 8"/>
          <p:cNvSpPr/>
          <p:nvPr/>
        </p:nvSpPr>
        <p:spPr>
          <a:xfrm>
            <a:off x="762000" y="4038600"/>
            <a:ext cx="21717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Airports</a:t>
            </a:r>
            <a:endParaRPr lang="en-US" sz="1050" dirty="0"/>
          </a:p>
        </p:txBody>
      </p:sp>
      <p:sp>
        <p:nvSpPr>
          <p:cNvPr id="33" name="Text 9"/>
          <p:cNvSpPr/>
          <p:nvPr/>
        </p:nvSpPr>
        <p:spPr>
          <a:xfrm>
            <a:off x="3390900" y="3695700"/>
            <a:ext cx="21717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10</a:t>
            </a:r>
            <a:endParaRPr lang="en-US" sz="2250" dirty="0"/>
          </a:p>
        </p:txBody>
      </p:sp>
      <p:sp>
        <p:nvSpPr>
          <p:cNvPr id="34" name="Text 10"/>
          <p:cNvSpPr/>
          <p:nvPr/>
        </p:nvSpPr>
        <p:spPr>
          <a:xfrm>
            <a:off x="3390900" y="4038600"/>
            <a:ext cx="21717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Airlines</a:t>
            </a:r>
            <a:endParaRPr lang="en-US" sz="1050" dirty="0"/>
          </a:p>
        </p:txBody>
      </p:sp>
      <p:sp>
        <p:nvSpPr>
          <p:cNvPr id="35" name="Text 11"/>
          <p:cNvSpPr/>
          <p:nvPr/>
        </p:nvSpPr>
        <p:spPr>
          <a:xfrm>
            <a:off x="609600" y="4610100"/>
            <a:ext cx="5105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Dataset Columns:</a:t>
            </a:r>
            <a:endParaRPr lang="en-US" sz="1350" dirty="0"/>
          </a:p>
        </p:txBody>
      </p:sp>
      <p:sp>
        <p:nvSpPr>
          <p:cNvPr id="36" name="Text 12"/>
          <p:cNvSpPr/>
          <p:nvPr/>
        </p:nvSpPr>
        <p:spPr>
          <a:xfrm>
            <a:off x="933450" y="4953000"/>
            <a:ext cx="155733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Airline Name</a:t>
            </a:r>
            <a:endParaRPr lang="en-US" sz="1050" dirty="0"/>
          </a:p>
        </p:txBody>
      </p:sp>
      <p:sp>
        <p:nvSpPr>
          <p:cNvPr id="37" name="Text 13"/>
          <p:cNvSpPr/>
          <p:nvPr/>
        </p:nvSpPr>
        <p:spPr>
          <a:xfrm>
            <a:off x="2269331" y="4953000"/>
            <a:ext cx="16205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Flight Number</a:t>
            </a:r>
            <a:endParaRPr lang="en-US" sz="1050" dirty="0"/>
          </a:p>
        </p:txBody>
      </p:sp>
      <p:sp>
        <p:nvSpPr>
          <p:cNvPr id="38" name="Text 14"/>
          <p:cNvSpPr/>
          <p:nvPr/>
        </p:nvSpPr>
        <p:spPr>
          <a:xfrm>
            <a:off x="3667423" y="4953000"/>
            <a:ext cx="190166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Origin/Destination</a:t>
            </a:r>
            <a:endParaRPr lang="en-US" sz="1050" dirty="0"/>
          </a:p>
        </p:txBody>
      </p:sp>
      <p:sp>
        <p:nvSpPr>
          <p:cNvPr id="39" name="Text 15"/>
          <p:cNvSpPr/>
          <p:nvPr/>
        </p:nvSpPr>
        <p:spPr>
          <a:xfrm>
            <a:off x="895350" y="5295900"/>
            <a:ext cx="239172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Departure/Arrival Times</a:t>
            </a:r>
            <a:endParaRPr lang="en-US" sz="1050" dirty="0"/>
          </a:p>
        </p:txBody>
      </p:sp>
      <p:sp>
        <p:nvSpPr>
          <p:cNvPr id="40" name="Text 16"/>
          <p:cNvSpPr/>
          <p:nvPr/>
        </p:nvSpPr>
        <p:spPr>
          <a:xfrm>
            <a:off x="2964656" y="5295900"/>
            <a:ext cx="232350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Delays &amp; Cancellations</a:t>
            </a:r>
            <a:endParaRPr lang="en-US" sz="1050" dirty="0"/>
          </a:p>
        </p:txBody>
      </p:sp>
      <p:sp>
        <p:nvSpPr>
          <p:cNvPr id="41" name="Text 17"/>
          <p:cNvSpPr/>
          <p:nvPr/>
        </p:nvSpPr>
        <p:spPr>
          <a:xfrm>
            <a:off x="6791325" y="1409700"/>
            <a:ext cx="61264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Analysis Methodology</a:t>
            </a:r>
            <a:endParaRPr lang="en-US" sz="1800" dirty="0"/>
          </a:p>
        </p:txBody>
      </p:sp>
      <p:sp>
        <p:nvSpPr>
          <p:cNvPr id="42" name="Text 18"/>
          <p:cNvSpPr/>
          <p:nvPr/>
        </p:nvSpPr>
        <p:spPr>
          <a:xfrm>
            <a:off x="6667500" y="1866900"/>
            <a:ext cx="4914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Collection</a:t>
            </a:r>
            <a:endParaRPr lang="en-US" sz="1350" dirty="0"/>
          </a:p>
        </p:txBody>
      </p:sp>
      <p:sp>
        <p:nvSpPr>
          <p:cNvPr id="43" name="Text 19"/>
          <p:cNvSpPr/>
          <p:nvPr/>
        </p:nvSpPr>
        <p:spPr>
          <a:xfrm>
            <a:off x="6667500" y="2133600"/>
            <a:ext cx="58978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Acquisition of flight data from BTS archive for analysis</a:t>
            </a:r>
            <a:endParaRPr lang="en-US" sz="1200" dirty="0"/>
          </a:p>
        </p:txBody>
      </p:sp>
      <p:sp>
        <p:nvSpPr>
          <p:cNvPr id="44" name="Text 20"/>
          <p:cNvSpPr/>
          <p:nvPr/>
        </p:nvSpPr>
        <p:spPr>
          <a:xfrm>
            <a:off x="6667500" y="2552700"/>
            <a:ext cx="4914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Preprocessing</a:t>
            </a:r>
            <a:endParaRPr lang="en-US" sz="1350" dirty="0"/>
          </a:p>
        </p:txBody>
      </p:sp>
      <p:sp>
        <p:nvSpPr>
          <p:cNvPr id="45" name="Text 21"/>
          <p:cNvSpPr/>
          <p:nvPr/>
        </p:nvSpPr>
        <p:spPr>
          <a:xfrm>
            <a:off x="6667500" y="2819400"/>
            <a:ext cx="58978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Cleaning, handling missing values, and removing duplicates</a:t>
            </a:r>
            <a:endParaRPr lang="en-US" sz="1200" dirty="0"/>
          </a:p>
        </p:txBody>
      </p:sp>
      <p:sp>
        <p:nvSpPr>
          <p:cNvPr id="46" name="Text 22"/>
          <p:cNvSpPr/>
          <p:nvPr/>
        </p:nvSpPr>
        <p:spPr>
          <a:xfrm>
            <a:off x="6667500" y="3238500"/>
            <a:ext cx="4914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Feature Extraction</a:t>
            </a:r>
            <a:endParaRPr lang="en-US" sz="1350" dirty="0"/>
          </a:p>
        </p:txBody>
      </p:sp>
      <p:sp>
        <p:nvSpPr>
          <p:cNvPr id="47" name="Text 23"/>
          <p:cNvSpPr/>
          <p:nvPr/>
        </p:nvSpPr>
        <p:spPr>
          <a:xfrm>
            <a:off x="6667500" y="3505200"/>
            <a:ext cx="49149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Creating new variables like Delay_Category, Day_of_Week, Total_Delay_Time</a:t>
            </a:r>
            <a:endParaRPr lang="en-US" sz="1200" dirty="0"/>
          </a:p>
        </p:txBody>
      </p:sp>
      <p:sp>
        <p:nvSpPr>
          <p:cNvPr id="48" name="Text 24"/>
          <p:cNvSpPr/>
          <p:nvPr/>
        </p:nvSpPr>
        <p:spPr>
          <a:xfrm>
            <a:off x="6667500" y="4152900"/>
            <a:ext cx="4914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Visual Analysis</a:t>
            </a:r>
            <a:endParaRPr lang="en-US" sz="1350" dirty="0"/>
          </a:p>
        </p:txBody>
      </p:sp>
      <p:sp>
        <p:nvSpPr>
          <p:cNvPr id="49" name="Text 25"/>
          <p:cNvSpPr/>
          <p:nvPr/>
        </p:nvSpPr>
        <p:spPr>
          <a:xfrm>
            <a:off x="6667500" y="4419600"/>
            <a:ext cx="49149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Exploring trends through charts, heatmaps, and geographical maps</a:t>
            </a:r>
            <a:endParaRPr lang="en-US" sz="1200" dirty="0"/>
          </a:p>
        </p:txBody>
      </p:sp>
      <p:sp>
        <p:nvSpPr>
          <p:cNvPr id="50" name="Text 26"/>
          <p:cNvSpPr/>
          <p:nvPr/>
        </p:nvSpPr>
        <p:spPr>
          <a:xfrm>
            <a:off x="6667500" y="5067300"/>
            <a:ext cx="4914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Insights Generation</a:t>
            </a:r>
            <a:endParaRPr lang="en-US" sz="1350" dirty="0"/>
          </a:p>
        </p:txBody>
      </p:sp>
      <p:sp>
        <p:nvSpPr>
          <p:cNvPr id="51" name="Text 27"/>
          <p:cNvSpPr/>
          <p:nvPr/>
        </p:nvSpPr>
        <p:spPr>
          <a:xfrm>
            <a:off x="6667500" y="5334000"/>
            <a:ext cx="58978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Transforming visual findings into actionable intelligence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914400"/>
            <a:ext cx="12192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181100"/>
            <a:ext cx="5600700" cy="4457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447800"/>
            <a:ext cx="285750" cy="228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552700"/>
            <a:ext cx="5143500" cy="838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2667000"/>
            <a:ext cx="38100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200" y="27813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3543300"/>
            <a:ext cx="5143500" cy="838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900" y="3657600"/>
            <a:ext cx="381000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200" y="37719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4533900"/>
            <a:ext cx="5143500" cy="838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3900" y="4648200"/>
            <a:ext cx="381000" cy="381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8200" y="47625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1181100"/>
            <a:ext cx="5600700" cy="4457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1447800"/>
            <a:ext cx="200025" cy="228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8900" y="2552700"/>
            <a:ext cx="2514600" cy="8763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53200" y="27051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67800" y="2552700"/>
            <a:ext cx="2514600" cy="8763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82100" y="2705100"/>
            <a:ext cx="13335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8900" y="3543300"/>
            <a:ext cx="2514600" cy="8763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53200" y="3695700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67800" y="3543300"/>
            <a:ext cx="2514600" cy="8763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182100" y="3695700"/>
            <a:ext cx="1905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38900" y="4533900"/>
            <a:ext cx="5143500" cy="8763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53200" y="4686300"/>
            <a:ext cx="152400" cy="15240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381000" y="4572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Preprocessing and Feature Extraction</a:t>
            </a:r>
            <a:endParaRPr lang="en-US" sz="2700" dirty="0"/>
          </a:p>
        </p:txBody>
      </p:sp>
      <p:sp>
        <p:nvSpPr>
          <p:cNvPr id="29" name="Text 1"/>
          <p:cNvSpPr/>
          <p:nvPr/>
        </p:nvSpPr>
        <p:spPr>
          <a:xfrm>
            <a:off x="1009650" y="1409700"/>
            <a:ext cx="514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Preprocessing</a:t>
            </a:r>
            <a:endParaRPr lang="en-US" sz="1800" dirty="0"/>
          </a:p>
        </p:txBody>
      </p:sp>
      <p:sp>
        <p:nvSpPr>
          <p:cNvPr id="30" name="Text 2"/>
          <p:cNvSpPr/>
          <p:nvPr/>
        </p:nvSpPr>
        <p:spPr>
          <a:xfrm>
            <a:off x="609600" y="1866900"/>
            <a:ext cx="51435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Comprehensive data cleaning process to ensure data quality and reliability for analysis.</a:t>
            </a:r>
            <a:endParaRPr lang="en-US" sz="1200" dirty="0"/>
          </a:p>
        </p:txBody>
      </p:sp>
      <p:sp>
        <p:nvSpPr>
          <p:cNvPr id="31" name="Text 3"/>
          <p:cNvSpPr/>
          <p:nvPr/>
        </p:nvSpPr>
        <p:spPr>
          <a:xfrm>
            <a:off x="1257300" y="2667000"/>
            <a:ext cx="4381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Remove Canceled Flights</a:t>
            </a:r>
            <a:endParaRPr lang="en-US" sz="1200" dirty="0"/>
          </a:p>
        </p:txBody>
      </p:sp>
      <p:sp>
        <p:nvSpPr>
          <p:cNvPr id="32" name="Text 4"/>
          <p:cNvSpPr/>
          <p:nvPr/>
        </p:nvSpPr>
        <p:spPr>
          <a:xfrm>
            <a:off x="1257300" y="2895600"/>
            <a:ext cx="43815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Canceled flights (2% of total data) were removed from the dataset to focus on actual operations.</a:t>
            </a:r>
            <a:endParaRPr lang="en-US" sz="1050" dirty="0"/>
          </a:p>
        </p:txBody>
      </p:sp>
      <p:sp>
        <p:nvSpPr>
          <p:cNvPr id="33" name="Text 5"/>
          <p:cNvSpPr/>
          <p:nvPr/>
        </p:nvSpPr>
        <p:spPr>
          <a:xfrm>
            <a:off x="1257300" y="3657600"/>
            <a:ext cx="4381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Handle Missing Values</a:t>
            </a:r>
            <a:endParaRPr lang="en-US" sz="1200" dirty="0"/>
          </a:p>
        </p:txBody>
      </p:sp>
      <p:sp>
        <p:nvSpPr>
          <p:cNvPr id="34" name="Text 6"/>
          <p:cNvSpPr/>
          <p:nvPr/>
        </p:nvSpPr>
        <p:spPr>
          <a:xfrm>
            <a:off x="1257300" y="3886200"/>
            <a:ext cx="43815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Addressed null values and errors to ensure data integrity and reliability for analysis.</a:t>
            </a:r>
            <a:endParaRPr lang="en-US" sz="1050" dirty="0"/>
          </a:p>
        </p:txBody>
      </p:sp>
      <p:sp>
        <p:nvSpPr>
          <p:cNvPr id="35" name="Text 7"/>
          <p:cNvSpPr/>
          <p:nvPr/>
        </p:nvSpPr>
        <p:spPr>
          <a:xfrm>
            <a:off x="1257300" y="4648200"/>
            <a:ext cx="4381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Transformation</a:t>
            </a:r>
            <a:endParaRPr lang="en-US" sz="1200" dirty="0"/>
          </a:p>
        </p:txBody>
      </p:sp>
      <p:sp>
        <p:nvSpPr>
          <p:cNvPr id="36" name="Text 8"/>
          <p:cNvSpPr/>
          <p:nvPr/>
        </p:nvSpPr>
        <p:spPr>
          <a:xfrm>
            <a:off x="1257300" y="4876800"/>
            <a:ext cx="43815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Converted categorical data into numerical formats to facilitate machine learning model training.</a:t>
            </a:r>
            <a:endParaRPr lang="en-US" sz="1050" dirty="0"/>
          </a:p>
        </p:txBody>
      </p:sp>
      <p:sp>
        <p:nvSpPr>
          <p:cNvPr id="37" name="Text 9"/>
          <p:cNvSpPr/>
          <p:nvPr/>
        </p:nvSpPr>
        <p:spPr>
          <a:xfrm>
            <a:off x="6753225" y="1409700"/>
            <a:ext cx="514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Feature Extraction</a:t>
            </a:r>
            <a:endParaRPr lang="en-US" sz="1800" dirty="0"/>
          </a:p>
        </p:txBody>
      </p:sp>
      <p:sp>
        <p:nvSpPr>
          <p:cNvPr id="38" name="Text 10"/>
          <p:cNvSpPr/>
          <p:nvPr/>
        </p:nvSpPr>
        <p:spPr>
          <a:xfrm>
            <a:off x="6438900" y="1866900"/>
            <a:ext cx="51435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Creating new, meaningful variables from the raw dataset to enhance analytical depth.</a:t>
            </a:r>
            <a:endParaRPr lang="en-US" sz="1200" dirty="0"/>
          </a:p>
        </p:txBody>
      </p:sp>
      <p:sp>
        <p:nvSpPr>
          <p:cNvPr id="39" name="Text 11"/>
          <p:cNvSpPr/>
          <p:nvPr/>
        </p:nvSpPr>
        <p:spPr>
          <a:xfrm>
            <a:off x="6781800" y="2667000"/>
            <a:ext cx="145125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Delay_Category</a:t>
            </a:r>
            <a:endParaRPr lang="en-US" sz="1200" dirty="0"/>
          </a:p>
        </p:txBody>
      </p:sp>
      <p:sp>
        <p:nvSpPr>
          <p:cNvPr id="40" name="Text 12"/>
          <p:cNvSpPr/>
          <p:nvPr/>
        </p:nvSpPr>
        <p:spPr>
          <a:xfrm>
            <a:off x="6553200" y="2933700"/>
            <a:ext cx="228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Categorizing delays into types (minor, major)</a:t>
            </a:r>
            <a:endParaRPr lang="en-US" sz="1050" dirty="0"/>
          </a:p>
        </p:txBody>
      </p:sp>
      <p:sp>
        <p:nvSpPr>
          <p:cNvPr id="41" name="Text 13"/>
          <p:cNvSpPr/>
          <p:nvPr/>
        </p:nvSpPr>
        <p:spPr>
          <a:xfrm>
            <a:off x="9391650" y="2667000"/>
            <a:ext cx="205347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Day_of_Week &amp; Month</a:t>
            </a:r>
            <a:endParaRPr lang="en-US" sz="1200" dirty="0"/>
          </a:p>
        </p:txBody>
      </p:sp>
      <p:sp>
        <p:nvSpPr>
          <p:cNvPr id="42" name="Text 14"/>
          <p:cNvSpPr/>
          <p:nvPr/>
        </p:nvSpPr>
        <p:spPr>
          <a:xfrm>
            <a:off x="9182100" y="2933700"/>
            <a:ext cx="228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Extracting temporal components for pattern analysis</a:t>
            </a:r>
            <a:endParaRPr lang="en-US" sz="1050" dirty="0"/>
          </a:p>
        </p:txBody>
      </p:sp>
      <p:sp>
        <p:nvSpPr>
          <p:cNvPr id="43" name="Text 15"/>
          <p:cNvSpPr/>
          <p:nvPr/>
        </p:nvSpPr>
        <p:spPr>
          <a:xfrm>
            <a:off x="6781800" y="3657600"/>
            <a:ext cx="158198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Total_Delay_Time</a:t>
            </a:r>
            <a:endParaRPr lang="en-US" sz="1200" dirty="0"/>
          </a:p>
        </p:txBody>
      </p:sp>
      <p:sp>
        <p:nvSpPr>
          <p:cNvPr id="44" name="Text 16"/>
          <p:cNvSpPr/>
          <p:nvPr/>
        </p:nvSpPr>
        <p:spPr>
          <a:xfrm>
            <a:off x="6553200" y="3924300"/>
            <a:ext cx="228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Calculating cumulative delay minutes for flights</a:t>
            </a:r>
            <a:endParaRPr lang="en-US" sz="1050" dirty="0"/>
          </a:p>
        </p:txBody>
      </p:sp>
      <p:sp>
        <p:nvSpPr>
          <p:cNvPr id="45" name="Text 17"/>
          <p:cNvSpPr/>
          <p:nvPr/>
        </p:nvSpPr>
        <p:spPr>
          <a:xfrm>
            <a:off x="9448800" y="3657600"/>
            <a:ext cx="186862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Flight Time Duration</a:t>
            </a:r>
            <a:endParaRPr lang="en-US" sz="1200" dirty="0"/>
          </a:p>
        </p:txBody>
      </p:sp>
      <p:sp>
        <p:nvSpPr>
          <p:cNvPr id="46" name="Text 18"/>
          <p:cNvSpPr/>
          <p:nvPr/>
        </p:nvSpPr>
        <p:spPr>
          <a:xfrm>
            <a:off x="9182100" y="3924300"/>
            <a:ext cx="228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Time difference between current and previous point</a:t>
            </a:r>
            <a:endParaRPr lang="en-US" sz="1050" dirty="0"/>
          </a:p>
        </p:txBody>
      </p:sp>
      <p:sp>
        <p:nvSpPr>
          <p:cNvPr id="47" name="Text 19"/>
          <p:cNvSpPr/>
          <p:nvPr/>
        </p:nvSpPr>
        <p:spPr>
          <a:xfrm>
            <a:off x="6781800" y="4648200"/>
            <a:ext cx="248120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Previous Flight Delay (PFD)</a:t>
            </a:r>
            <a:endParaRPr lang="en-US" sz="1200" dirty="0"/>
          </a:p>
        </p:txBody>
      </p:sp>
      <p:sp>
        <p:nvSpPr>
          <p:cNvPr id="48" name="Text 20"/>
          <p:cNvSpPr/>
          <p:nvPr/>
        </p:nvSpPr>
        <p:spPr>
          <a:xfrm>
            <a:off x="6553200" y="4914900"/>
            <a:ext cx="49149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Delay of preceding flight on same path, used to predict subsequent delays and understand delay propagation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771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914400"/>
            <a:ext cx="12192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104900"/>
            <a:ext cx="11430000" cy="838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2095500"/>
            <a:ext cx="5600700" cy="3619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2286000"/>
            <a:ext cx="171450" cy="190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0300" y="2095500"/>
            <a:ext cx="5600700" cy="3619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62700" y="2286000"/>
            <a:ext cx="171450" cy="190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5867400"/>
            <a:ext cx="11430000" cy="1028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400" y="6067425"/>
            <a:ext cx="133350" cy="1714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3400" y="6400800"/>
            <a:ext cx="17145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92501" y="64008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51750" y="6400800"/>
            <a:ext cx="152400" cy="1524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381000" y="4572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Flight Volume Analysis</a:t>
            </a:r>
            <a:endParaRPr lang="en-US" sz="2700" dirty="0"/>
          </a:p>
        </p:txBody>
      </p:sp>
      <p:sp>
        <p:nvSpPr>
          <p:cNvPr id="18" name="Text 1"/>
          <p:cNvSpPr/>
          <p:nvPr/>
        </p:nvSpPr>
        <p:spPr>
          <a:xfrm>
            <a:off x="533400" y="1257300"/>
            <a:ext cx="111252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Analyzing flight volume provides insights into airline activity and operational scale, revealing market share and seasonal patterns.</a:t>
            </a:r>
            <a:endParaRPr lang="en-US" sz="1350" dirty="0"/>
          </a:p>
        </p:txBody>
      </p:sp>
      <p:sp>
        <p:nvSpPr>
          <p:cNvPr id="19" name="Text 2"/>
          <p:cNvSpPr/>
          <p:nvPr/>
        </p:nvSpPr>
        <p:spPr>
          <a:xfrm>
            <a:off x="781050" y="2247900"/>
            <a:ext cx="5295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Seasonal Variations</a:t>
            </a:r>
            <a:endParaRPr lang="en-US" sz="1500" dirty="0"/>
          </a:p>
        </p:txBody>
      </p:sp>
      <p:sp>
        <p:nvSpPr>
          <p:cNvPr id="20" name="Text 3"/>
          <p:cNvSpPr/>
          <p:nvPr/>
        </p:nvSpPr>
        <p:spPr>
          <a:xfrm>
            <a:off x="533400" y="2590800"/>
            <a:ext cx="6355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Monthly flight volumes show highest activity in July and lowest in February</a:t>
            </a:r>
            <a:endParaRPr lang="en-US" sz="1050" dirty="0"/>
          </a:p>
        </p:txBody>
      </p:sp>
      <p:sp>
        <p:nvSpPr>
          <p:cNvPr id="21" name="Text 4"/>
          <p:cNvSpPr/>
          <p:nvPr/>
        </p:nvSpPr>
        <p:spPr>
          <a:xfrm>
            <a:off x="6610350" y="2247900"/>
            <a:ext cx="5295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Weekly Patterns</a:t>
            </a:r>
            <a:endParaRPr lang="en-US" sz="1500" dirty="0"/>
          </a:p>
        </p:txBody>
      </p:sp>
      <p:sp>
        <p:nvSpPr>
          <p:cNvPr id="22" name="Text 5"/>
          <p:cNvSpPr/>
          <p:nvPr/>
        </p:nvSpPr>
        <p:spPr>
          <a:xfrm>
            <a:off x="6362700" y="2590800"/>
            <a:ext cx="6355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Weekends, particularly Saturdays, have lower flight volumes</a:t>
            </a:r>
            <a:endParaRPr lang="en-US" sz="1050" dirty="0"/>
          </a:p>
        </p:txBody>
      </p:sp>
      <p:sp>
        <p:nvSpPr>
          <p:cNvPr id="23" name="Text 6"/>
          <p:cNvSpPr/>
          <p:nvPr/>
        </p:nvSpPr>
        <p:spPr>
          <a:xfrm>
            <a:off x="742950" y="6019800"/>
            <a:ext cx="11125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Insights</a:t>
            </a:r>
            <a:endParaRPr lang="en-US" sz="1350" dirty="0"/>
          </a:p>
        </p:txBody>
      </p:sp>
      <p:sp>
        <p:nvSpPr>
          <p:cNvPr id="24" name="Text 7"/>
          <p:cNvSpPr/>
          <p:nvPr/>
        </p:nvSpPr>
        <p:spPr>
          <a:xfrm>
            <a:off x="781050" y="6362700"/>
            <a:ext cx="335905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Market share visible through relative flight volumes</a:t>
            </a:r>
            <a:endParaRPr lang="en-US" sz="1050" dirty="0"/>
          </a:p>
        </p:txBody>
      </p:sp>
      <p:sp>
        <p:nvSpPr>
          <p:cNvPr id="25" name="Text 8"/>
          <p:cNvSpPr/>
          <p:nvPr/>
        </p:nvSpPr>
        <p:spPr>
          <a:xfrm>
            <a:off x="4521101" y="6362700"/>
            <a:ext cx="333345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Larger airlines operate disproportionately</a:t>
            </a:r>
            <a:endParaRPr lang="en-US" sz="1050" dirty="0"/>
          </a:p>
        </p:txBody>
      </p:sp>
      <p:sp>
        <p:nvSpPr>
          <p:cNvPr id="26" name="Text 9"/>
          <p:cNvSpPr/>
          <p:nvPr/>
        </p:nvSpPr>
        <p:spPr>
          <a:xfrm>
            <a:off x="8280350" y="6362700"/>
            <a:ext cx="35865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July shows highest volumes, February lowest</a:t>
            </a:r>
            <a:endParaRPr lang="en-US" sz="1050" dirty="0"/>
          </a:p>
        </p:txBody>
      </p:sp>
      <p:pic>
        <p:nvPicPr>
          <p:cNvPr id="27" name="Image 44">
            <a:extLst>
              <a:ext uri="{FF2B5EF4-FFF2-40B4-BE49-F238E27FC236}">
                <a16:creationId xmlns:a16="http://schemas.microsoft.com/office/drawing/2014/main" id="{4362D891-0539-7973-08FA-C87165E9D28A}"/>
              </a:ext>
            </a:extLst>
          </p:cNvPr>
          <p:cNvPicPr>
            <a:picLocks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6305550" y="2857500"/>
            <a:ext cx="4561974" cy="2162175"/>
          </a:xfrm>
          <a:prstGeom prst="rect">
            <a:avLst/>
          </a:prstGeom>
        </p:spPr>
      </p:pic>
      <p:pic>
        <p:nvPicPr>
          <p:cNvPr id="28" name="Image 45" descr="A graph of blue bars  Description automatically generated">
            <a:extLst>
              <a:ext uri="{FF2B5EF4-FFF2-40B4-BE49-F238E27FC236}">
                <a16:creationId xmlns:a16="http://schemas.microsoft.com/office/drawing/2014/main" id="{D7CD54A8-E411-3190-0AF1-F79BBD32A045}"/>
              </a:ext>
            </a:extLst>
          </p:cNvPr>
          <p:cNvPicPr>
            <a:picLocks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476385" y="3025140"/>
            <a:ext cx="4592920" cy="21932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342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914400"/>
            <a:ext cx="12192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181100"/>
            <a:ext cx="5562600" cy="4000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600200"/>
            <a:ext cx="257175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400" y="1181100"/>
            <a:ext cx="5562600" cy="4000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0" y="1447800"/>
            <a:ext cx="171450" cy="228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2514600"/>
            <a:ext cx="1905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31242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0" y="3733800"/>
            <a:ext cx="1905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1000" y="5410200"/>
            <a:ext cx="11430000" cy="762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3400" y="5715000"/>
            <a:ext cx="152400" cy="15240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381000" y="4572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Cancellation Analysis and Patterns</a:t>
            </a:r>
            <a:endParaRPr lang="en-US" sz="2700" dirty="0"/>
          </a:p>
        </p:txBody>
      </p:sp>
      <p:sp>
        <p:nvSpPr>
          <p:cNvPr id="16" name="Text 1"/>
          <p:cNvSpPr/>
          <p:nvPr/>
        </p:nvSpPr>
        <p:spPr>
          <a:xfrm>
            <a:off x="981075" y="1409700"/>
            <a:ext cx="5105400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Primary Reasons for Flight Cancellations</a:t>
            </a:r>
            <a:endParaRPr lang="en-US" sz="1800" dirty="0"/>
          </a:p>
        </p:txBody>
      </p:sp>
      <p:sp>
        <p:nvSpPr>
          <p:cNvPr id="17" name="Text 2"/>
          <p:cNvSpPr/>
          <p:nvPr/>
        </p:nvSpPr>
        <p:spPr>
          <a:xfrm>
            <a:off x="99060" y="4762500"/>
            <a:ext cx="61264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Based on analysis of 5,512,904 flights from May to December 2019</a:t>
            </a:r>
            <a:endParaRPr lang="en-US" sz="1050" dirty="0"/>
          </a:p>
        </p:txBody>
      </p:sp>
      <p:sp>
        <p:nvSpPr>
          <p:cNvPr id="18" name="Text 3"/>
          <p:cNvSpPr/>
          <p:nvPr/>
        </p:nvSpPr>
        <p:spPr>
          <a:xfrm>
            <a:off x="6762750" y="1409700"/>
            <a:ext cx="5105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Insights</a:t>
            </a:r>
            <a:endParaRPr lang="en-US" sz="1800" dirty="0"/>
          </a:p>
        </p:txBody>
      </p:sp>
      <p:sp>
        <p:nvSpPr>
          <p:cNvPr id="19" name="Text 4"/>
          <p:cNvSpPr/>
          <p:nvPr/>
        </p:nvSpPr>
        <p:spPr>
          <a:xfrm>
            <a:off x="6591300" y="1866900"/>
            <a:ext cx="4991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Weather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is the leading cause of cancellations at </a:t>
            </a: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39%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, followed by </a:t>
            </a: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airline/carrier issues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at </a:t>
            </a: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33.4%</a:t>
            </a:r>
            <a:endParaRPr lang="en-US" sz="1200" dirty="0"/>
          </a:p>
        </p:txBody>
      </p:sp>
      <p:sp>
        <p:nvSpPr>
          <p:cNvPr id="20" name="Text 5"/>
          <p:cNvSpPr/>
          <p:nvPr/>
        </p:nvSpPr>
        <p:spPr>
          <a:xfrm>
            <a:off x="6781800" y="2476500"/>
            <a:ext cx="4800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Southwest Airlines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has the highest number of canceled flights due to its extensive operations</a:t>
            </a:r>
            <a:endParaRPr lang="en-US" sz="1200" dirty="0"/>
          </a:p>
        </p:txBody>
      </p:sp>
      <p:sp>
        <p:nvSpPr>
          <p:cNvPr id="21" name="Text 6"/>
          <p:cNvSpPr/>
          <p:nvPr/>
        </p:nvSpPr>
        <p:spPr>
          <a:xfrm>
            <a:off x="6743700" y="3086100"/>
            <a:ext cx="4838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American Eagle Airlines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exhibits the highest cancellation rate at </a:t>
            </a: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5.1%</a:t>
            </a:r>
            <a:endParaRPr lang="en-US" sz="1200" dirty="0"/>
          </a:p>
        </p:txBody>
      </p:sp>
      <p:sp>
        <p:nvSpPr>
          <p:cNvPr id="22" name="Text 7"/>
          <p:cNvSpPr/>
          <p:nvPr/>
        </p:nvSpPr>
        <p:spPr>
          <a:xfrm>
            <a:off x="6781800" y="3695700"/>
            <a:ext cx="4800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examining cancellation </a:t>
            </a: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rates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provides a more accurate measure of unreliability than raw numbers</a:t>
            </a:r>
            <a:endParaRPr lang="en-US" sz="1200" dirty="0"/>
          </a:p>
        </p:txBody>
      </p:sp>
      <p:sp>
        <p:nvSpPr>
          <p:cNvPr id="23" name="Text 8"/>
          <p:cNvSpPr/>
          <p:nvPr/>
        </p:nvSpPr>
        <p:spPr>
          <a:xfrm>
            <a:off x="800100" y="5562600"/>
            <a:ext cx="11125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Takeaway: Weather and airline issues are the primary drivers of cancellations, with significant differences in cancellation patterns between airlines of different sizes and routes.</a:t>
            </a:r>
            <a:endParaRPr lang="en-US" sz="1200" dirty="0"/>
          </a:p>
        </p:txBody>
      </p:sp>
      <p:pic>
        <p:nvPicPr>
          <p:cNvPr id="25" name="Picture 2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EE1452D9-A86A-08DF-A3E1-67843C3E05C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1985874"/>
            <a:ext cx="3194050" cy="23844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914400"/>
            <a:ext cx="12192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181100"/>
            <a:ext cx="6538168" cy="4800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447800"/>
            <a:ext cx="228600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7768" y="1181100"/>
            <a:ext cx="4663232" cy="2514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6368" y="1447800"/>
            <a:ext cx="171450" cy="228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76368" y="1905000"/>
            <a:ext cx="1905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76368" y="24765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76368" y="30480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47768" y="3848100"/>
            <a:ext cx="4663232" cy="2133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76368" y="4114800"/>
            <a:ext cx="257175" cy="228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76368" y="5372100"/>
            <a:ext cx="229344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62391" y="5486400"/>
            <a:ext cx="57150" cy="1524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381000" y="4572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Delay Pattern Analysis</a:t>
            </a:r>
            <a:endParaRPr lang="en-US" sz="2700" dirty="0"/>
          </a:p>
        </p:txBody>
      </p:sp>
      <p:sp>
        <p:nvSpPr>
          <p:cNvPr id="18" name="Text 1"/>
          <p:cNvSpPr/>
          <p:nvPr/>
        </p:nvSpPr>
        <p:spPr>
          <a:xfrm>
            <a:off x="952500" y="1409700"/>
            <a:ext cx="7297162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Top 5 Airlines by Mean Delay Types</a:t>
            </a:r>
            <a:endParaRPr lang="en-US" sz="1800" dirty="0"/>
          </a:p>
        </p:txBody>
      </p:sp>
      <p:sp>
        <p:nvSpPr>
          <p:cNvPr id="19" name="Text 2"/>
          <p:cNvSpPr/>
          <p:nvPr/>
        </p:nvSpPr>
        <p:spPr>
          <a:xfrm>
            <a:off x="1503" y="4800600"/>
            <a:ext cx="729716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shows average departure delay in minutes</a:t>
            </a:r>
            <a:endParaRPr lang="en-US" sz="1050" dirty="0"/>
          </a:p>
        </p:txBody>
      </p:sp>
      <p:sp>
        <p:nvSpPr>
          <p:cNvPr id="20" name="Text 3"/>
          <p:cNvSpPr/>
          <p:nvPr/>
        </p:nvSpPr>
        <p:spPr>
          <a:xfrm>
            <a:off x="7662118" y="1409700"/>
            <a:ext cx="4206032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Insights</a:t>
            </a:r>
            <a:endParaRPr lang="en-US" sz="1800" dirty="0"/>
          </a:p>
        </p:txBody>
      </p:sp>
      <p:sp>
        <p:nvSpPr>
          <p:cNvPr id="21" name="Text 4"/>
          <p:cNvSpPr/>
          <p:nvPr/>
        </p:nvSpPr>
        <p:spPr>
          <a:xfrm>
            <a:off x="7681168" y="1866900"/>
            <a:ext cx="3901232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Spirit Airlines has the highest average departure delay at </a:t>
            </a: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16 minutes</a:t>
            </a:r>
            <a:endParaRPr lang="en-US" sz="1200" dirty="0"/>
          </a:p>
        </p:txBody>
      </p:sp>
      <p:sp>
        <p:nvSpPr>
          <p:cNvPr id="22" name="Text 5"/>
          <p:cNvSpPr/>
          <p:nvPr/>
        </p:nvSpPr>
        <p:spPr>
          <a:xfrm>
            <a:off x="7643068" y="2438400"/>
            <a:ext cx="3939332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United Air Lines Inc. shows a higher percentage of delayed flights</a:t>
            </a:r>
            <a:endParaRPr lang="en-US" sz="1200" dirty="0"/>
          </a:p>
        </p:txBody>
      </p:sp>
      <p:sp>
        <p:nvSpPr>
          <p:cNvPr id="23" name="Text 6"/>
          <p:cNvSpPr/>
          <p:nvPr/>
        </p:nvSpPr>
        <p:spPr>
          <a:xfrm>
            <a:off x="7643068" y="3009900"/>
            <a:ext cx="3939332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Flights departing later in the day are more susceptible to delays</a:t>
            </a:r>
            <a:endParaRPr lang="en-US" sz="1200" dirty="0"/>
          </a:p>
        </p:txBody>
      </p:sp>
      <p:sp>
        <p:nvSpPr>
          <p:cNvPr id="24" name="Text 7"/>
          <p:cNvSpPr/>
          <p:nvPr/>
        </p:nvSpPr>
        <p:spPr>
          <a:xfrm>
            <a:off x="7747843" y="4076700"/>
            <a:ext cx="504723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Delay Propagation</a:t>
            </a:r>
            <a:endParaRPr lang="en-US" sz="1800" dirty="0"/>
          </a:p>
        </p:txBody>
      </p:sp>
      <p:sp>
        <p:nvSpPr>
          <p:cNvPr id="25" name="Text 8"/>
          <p:cNvSpPr/>
          <p:nvPr/>
        </p:nvSpPr>
        <p:spPr>
          <a:xfrm>
            <a:off x="7376368" y="4533900"/>
            <a:ext cx="4206032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Delays tend to increase later in the day due to cascading effects, where initial delays ripple through the flight network.</a:t>
            </a:r>
            <a:endParaRPr lang="en-US" sz="1200" dirty="0"/>
          </a:p>
        </p:txBody>
      </p:sp>
      <p:sp>
        <p:nvSpPr>
          <p:cNvPr id="26" name="Text 9"/>
          <p:cNvSpPr/>
          <p:nvPr/>
        </p:nvSpPr>
        <p:spPr>
          <a:xfrm>
            <a:off x="7720013" y="5372100"/>
            <a:ext cx="3862387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Heatmaps can visualize how average departure delays vary by time of day and day of the week</a:t>
            </a:r>
            <a:endParaRPr lang="en-US" sz="10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07A587B-69AB-233A-F652-1FB7EE5DD13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8200" y="2074997"/>
            <a:ext cx="4197350" cy="26485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914400"/>
            <a:ext cx="12192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143000"/>
            <a:ext cx="6724650" cy="4800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409700"/>
            <a:ext cx="285750" cy="228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1790700"/>
            <a:ext cx="5715000" cy="33337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554355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06489" y="554355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31098" y="554355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34250" y="1143000"/>
            <a:ext cx="4476750" cy="19431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24750" y="1371600"/>
            <a:ext cx="190500" cy="190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24750" y="1733550"/>
            <a:ext cx="1143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24750" y="2228850"/>
            <a:ext cx="1143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24750" y="2495550"/>
            <a:ext cx="1143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34250" y="3200400"/>
            <a:ext cx="4476750" cy="2743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24750" y="3429000"/>
            <a:ext cx="142875" cy="190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24750" y="37338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24750" y="42291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24750" y="4724400"/>
            <a:ext cx="152400" cy="1524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381000" y="4572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Airport Performance Assessment</a:t>
            </a:r>
            <a:endParaRPr lang="en-US" sz="2700" dirty="0"/>
          </a:p>
        </p:txBody>
      </p:sp>
      <p:sp>
        <p:nvSpPr>
          <p:cNvPr id="22" name="Text 1"/>
          <p:cNvSpPr/>
          <p:nvPr/>
        </p:nvSpPr>
        <p:spPr>
          <a:xfrm>
            <a:off x="1009650" y="1371600"/>
            <a:ext cx="75209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Top Problematic Airports</a:t>
            </a:r>
            <a:endParaRPr lang="en-US" sz="1800" dirty="0"/>
          </a:p>
        </p:txBody>
      </p:sp>
      <p:sp>
        <p:nvSpPr>
          <p:cNvPr id="23" name="Text 2"/>
          <p:cNvSpPr/>
          <p:nvPr/>
        </p:nvSpPr>
        <p:spPr>
          <a:xfrm>
            <a:off x="838200" y="5524500"/>
            <a:ext cx="91582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 Issues</a:t>
            </a:r>
            <a:endParaRPr lang="en-US" sz="1050" dirty="0"/>
          </a:p>
        </p:txBody>
      </p:sp>
      <p:sp>
        <p:nvSpPr>
          <p:cNvPr id="24" name="Text 3"/>
          <p:cNvSpPr/>
          <p:nvPr/>
        </p:nvSpPr>
        <p:spPr>
          <a:xfrm>
            <a:off x="3335089" y="5524500"/>
            <a:ext cx="130909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Moderate Issues</a:t>
            </a:r>
            <a:endParaRPr lang="en-US" sz="1050" dirty="0"/>
          </a:p>
        </p:txBody>
      </p:sp>
      <p:sp>
        <p:nvSpPr>
          <p:cNvPr id="25" name="Text 4"/>
          <p:cNvSpPr/>
          <p:nvPr/>
        </p:nvSpPr>
        <p:spPr>
          <a:xfrm>
            <a:off x="6159698" y="5524500"/>
            <a:ext cx="86082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Few Issues</a:t>
            </a:r>
            <a:endParaRPr lang="en-US" sz="1050" dirty="0"/>
          </a:p>
        </p:txBody>
      </p:sp>
      <p:sp>
        <p:nvSpPr>
          <p:cNvPr id="26" name="Text 5"/>
          <p:cNvSpPr/>
          <p:nvPr/>
        </p:nvSpPr>
        <p:spPr>
          <a:xfrm>
            <a:off x="7791450" y="1333500"/>
            <a:ext cx="4914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O'Hare International Airport (ORD)</a:t>
            </a:r>
            <a:endParaRPr lang="en-US" sz="1500" dirty="0"/>
          </a:p>
        </p:txBody>
      </p:sp>
      <p:sp>
        <p:nvSpPr>
          <p:cNvPr id="27" name="Text 6"/>
          <p:cNvSpPr/>
          <p:nvPr/>
        </p:nvSpPr>
        <p:spPr>
          <a:xfrm>
            <a:off x="7715250" y="1676400"/>
            <a:ext cx="39052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Ranks highest in both flight cancellations and delays</a:t>
            </a:r>
            <a:endParaRPr lang="en-US" sz="1200" dirty="0"/>
          </a:p>
        </p:txBody>
      </p:sp>
      <p:sp>
        <p:nvSpPr>
          <p:cNvPr id="28" name="Text 7"/>
          <p:cNvSpPr/>
          <p:nvPr/>
        </p:nvSpPr>
        <p:spPr>
          <a:xfrm>
            <a:off x="7715250" y="2171700"/>
            <a:ext cx="418480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Serves as a significant operational bottleneck</a:t>
            </a:r>
            <a:endParaRPr lang="en-US" sz="1200" dirty="0"/>
          </a:p>
        </p:txBody>
      </p:sp>
      <p:sp>
        <p:nvSpPr>
          <p:cNvPr id="29" name="Text 8"/>
          <p:cNvSpPr/>
          <p:nvPr/>
        </p:nvSpPr>
        <p:spPr>
          <a:xfrm>
            <a:off x="7715250" y="2438400"/>
            <a:ext cx="39052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Consistently appears in top delay/cancellation rankings</a:t>
            </a:r>
            <a:endParaRPr lang="en-US" sz="1200" dirty="0"/>
          </a:p>
        </p:txBody>
      </p:sp>
      <p:sp>
        <p:nvSpPr>
          <p:cNvPr id="30" name="Text 9"/>
          <p:cNvSpPr/>
          <p:nvPr/>
        </p:nvSpPr>
        <p:spPr>
          <a:xfrm>
            <a:off x="7743825" y="3390900"/>
            <a:ext cx="40957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Insights</a:t>
            </a:r>
            <a:endParaRPr lang="en-US" sz="1500" dirty="0"/>
          </a:p>
        </p:txBody>
      </p:sp>
      <p:sp>
        <p:nvSpPr>
          <p:cNvPr id="31" name="Text 10"/>
          <p:cNvSpPr/>
          <p:nvPr/>
        </p:nvSpPr>
        <p:spPr>
          <a:xfrm>
            <a:off x="7753350" y="3733800"/>
            <a:ext cx="38671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Major hubs like ORD often experience higher volumes</a:t>
            </a:r>
            <a:endParaRPr lang="en-US" sz="1200" dirty="0"/>
          </a:p>
        </p:txBody>
      </p:sp>
      <p:sp>
        <p:nvSpPr>
          <p:cNvPr id="32" name="Text 11"/>
          <p:cNvSpPr/>
          <p:nvPr/>
        </p:nvSpPr>
        <p:spPr>
          <a:xfrm>
            <a:off x="7753350" y="4229100"/>
            <a:ext cx="38671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Other significant airports also show operational challenges</a:t>
            </a:r>
            <a:endParaRPr lang="en-US" sz="1200" dirty="0"/>
          </a:p>
        </p:txBody>
      </p:sp>
      <p:sp>
        <p:nvSpPr>
          <p:cNvPr id="33" name="Text 12"/>
          <p:cNvSpPr/>
          <p:nvPr/>
        </p:nvSpPr>
        <p:spPr>
          <a:xfrm>
            <a:off x="7753350" y="4724400"/>
            <a:ext cx="38671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Geographic maps could help visualize problematic airports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771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914400"/>
            <a:ext cx="12192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181100"/>
            <a:ext cx="5600700" cy="5334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409700"/>
            <a:ext cx="171450" cy="228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400300"/>
            <a:ext cx="17145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3200400"/>
            <a:ext cx="13335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81350" y="1828800"/>
            <a:ext cx="1143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81350" y="26289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0300" y="1181100"/>
            <a:ext cx="5600700" cy="5334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1409700"/>
            <a:ext cx="228600" cy="228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1828800"/>
            <a:ext cx="13335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21717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25146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0800" y="2857500"/>
            <a:ext cx="17145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00800" y="3200400"/>
            <a:ext cx="152400" cy="1524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381000" y="4572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Insights and Challenges</a:t>
            </a:r>
            <a:endParaRPr lang="en-US" sz="2700" dirty="0"/>
          </a:p>
        </p:txBody>
      </p:sp>
      <p:sp>
        <p:nvSpPr>
          <p:cNvPr id="20" name="Text 1"/>
          <p:cNvSpPr/>
          <p:nvPr/>
        </p:nvSpPr>
        <p:spPr>
          <a:xfrm>
            <a:off x="857250" y="1371600"/>
            <a:ext cx="5219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Insights</a:t>
            </a:r>
            <a:endParaRPr lang="en-US" sz="1800" dirty="0"/>
          </a:p>
        </p:txBody>
      </p:sp>
      <p:sp>
        <p:nvSpPr>
          <p:cNvPr id="21" name="Text 2"/>
          <p:cNvSpPr/>
          <p:nvPr/>
        </p:nvSpPr>
        <p:spPr>
          <a:xfrm>
            <a:off x="647700" y="1790700"/>
            <a:ext cx="25336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Weather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is the leading cause of flight cancellations (39%)</a:t>
            </a:r>
            <a:endParaRPr lang="en-US" sz="1200" dirty="0"/>
          </a:p>
        </p:txBody>
      </p:sp>
      <p:sp>
        <p:nvSpPr>
          <p:cNvPr id="22" name="Text 3"/>
          <p:cNvSpPr/>
          <p:nvPr/>
        </p:nvSpPr>
        <p:spPr>
          <a:xfrm>
            <a:off x="819150" y="2362200"/>
            <a:ext cx="23622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Airline/carrier issues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are the second major reason (33.4%)</a:t>
            </a:r>
            <a:endParaRPr lang="en-US" sz="1200" dirty="0"/>
          </a:p>
        </p:txBody>
      </p:sp>
      <p:sp>
        <p:nvSpPr>
          <p:cNvPr id="23" name="Text 4"/>
          <p:cNvSpPr/>
          <p:nvPr/>
        </p:nvSpPr>
        <p:spPr>
          <a:xfrm>
            <a:off x="781050" y="3162300"/>
            <a:ext cx="24003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Peak delays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occur during summer months, particularly July</a:t>
            </a:r>
            <a:endParaRPr lang="en-US" sz="1200" dirty="0"/>
          </a:p>
        </p:txBody>
      </p:sp>
      <p:sp>
        <p:nvSpPr>
          <p:cNvPr id="24" name="Text 5"/>
          <p:cNvSpPr/>
          <p:nvPr/>
        </p:nvSpPr>
        <p:spPr>
          <a:xfrm>
            <a:off x="3371850" y="1790700"/>
            <a:ext cx="24193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O'Hare International Airport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ranks highest in both cancellations and delays</a:t>
            </a:r>
            <a:endParaRPr lang="en-US" sz="1200" dirty="0"/>
          </a:p>
        </p:txBody>
      </p:sp>
      <p:sp>
        <p:nvSpPr>
          <p:cNvPr id="25" name="Text 6"/>
          <p:cNvSpPr/>
          <p:nvPr/>
        </p:nvSpPr>
        <p:spPr>
          <a:xfrm>
            <a:off x="3409950" y="2590800"/>
            <a:ext cx="23812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Southwest Airlines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has high volume but also high cancellations/delays</a:t>
            </a:r>
            <a:endParaRPr lang="en-US" sz="1200" dirty="0"/>
          </a:p>
        </p:txBody>
      </p:sp>
      <p:sp>
        <p:nvSpPr>
          <p:cNvPr id="26" name="Text 7"/>
          <p:cNvSpPr/>
          <p:nvPr/>
        </p:nvSpPr>
        <p:spPr>
          <a:xfrm>
            <a:off x="6743700" y="1371600"/>
            <a:ext cx="5219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Project Challenges</a:t>
            </a:r>
            <a:endParaRPr lang="en-US" sz="1800" dirty="0"/>
          </a:p>
        </p:txBody>
      </p:sp>
      <p:sp>
        <p:nvSpPr>
          <p:cNvPr id="27" name="Text 8"/>
          <p:cNvSpPr/>
          <p:nvPr/>
        </p:nvSpPr>
        <p:spPr>
          <a:xfrm>
            <a:off x="6610350" y="1790700"/>
            <a:ext cx="506956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Managing a vast dataset of over 5 million flight records</a:t>
            </a:r>
            <a:endParaRPr lang="en-US" sz="1200" dirty="0"/>
          </a:p>
        </p:txBody>
      </p:sp>
      <p:sp>
        <p:nvSpPr>
          <p:cNvPr id="28" name="Text 9"/>
          <p:cNvSpPr/>
          <p:nvPr/>
        </p:nvSpPr>
        <p:spPr>
          <a:xfrm>
            <a:off x="6629400" y="2133600"/>
            <a:ext cx="589930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Ensuring accuracy and consistency of data from various sources</a:t>
            </a:r>
            <a:endParaRPr lang="en-US" sz="1200" dirty="0"/>
          </a:p>
        </p:txBody>
      </p:sp>
      <p:sp>
        <p:nvSpPr>
          <p:cNvPr id="29" name="Text 10"/>
          <p:cNvSpPr/>
          <p:nvPr/>
        </p:nvSpPr>
        <p:spPr>
          <a:xfrm>
            <a:off x="6629400" y="2476500"/>
            <a:ext cx="397585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Effectively integrating disparate data types</a:t>
            </a:r>
            <a:endParaRPr lang="en-US" sz="1200" dirty="0"/>
          </a:p>
        </p:txBody>
      </p:sp>
      <p:sp>
        <p:nvSpPr>
          <p:cNvPr id="30" name="Text 11"/>
          <p:cNvSpPr/>
          <p:nvPr/>
        </p:nvSpPr>
        <p:spPr>
          <a:xfrm>
            <a:off x="6648450" y="2819400"/>
            <a:ext cx="596556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Transforming complex analytical findings into clear visualizations</a:t>
            </a:r>
            <a:endParaRPr lang="en-US" sz="1200" dirty="0"/>
          </a:p>
        </p:txBody>
      </p:sp>
      <p:sp>
        <p:nvSpPr>
          <p:cNvPr id="31" name="Text 12"/>
          <p:cNvSpPr/>
          <p:nvPr/>
        </p:nvSpPr>
        <p:spPr>
          <a:xfrm>
            <a:off x="6629400" y="3162300"/>
            <a:ext cx="4991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Avoiding information overload while maintaining accuracy and relevance</a:t>
            </a:r>
            <a:endParaRPr lang="en-US" sz="1200" dirty="0"/>
          </a:p>
        </p:txBody>
      </p:sp>
      <p:pic>
        <p:nvPicPr>
          <p:cNvPr id="33" name="Image 46" descr="A graph of a bar  Description automatically generated with medium confidence">
            <a:extLst>
              <a:ext uri="{FF2B5EF4-FFF2-40B4-BE49-F238E27FC236}">
                <a16:creationId xmlns:a16="http://schemas.microsoft.com/office/drawing/2014/main" id="{52FDAE9A-FF0C-998D-E1C9-9C6C5738FAE0}"/>
              </a:ext>
            </a:extLst>
          </p:cNvPr>
          <p:cNvPicPr>
            <a:picLocks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819150" y="3957320"/>
            <a:ext cx="4087495" cy="2672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914400"/>
            <a:ext cx="12192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181100"/>
            <a:ext cx="5562600" cy="3124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447800"/>
            <a:ext cx="228600" cy="228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1905000"/>
            <a:ext cx="17145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25146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3124200"/>
            <a:ext cx="1143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4000500"/>
            <a:ext cx="5105400" cy="76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4000500"/>
            <a:ext cx="5105400" cy="571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8400" y="1181100"/>
            <a:ext cx="5562600" cy="3124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1447800"/>
            <a:ext cx="228600" cy="228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000" y="190500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0" y="2286000"/>
            <a:ext cx="1905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77000" y="2895600"/>
            <a:ext cx="17145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7000" y="3276600"/>
            <a:ext cx="1905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38047" y="4667250"/>
            <a:ext cx="114300" cy="1143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381000" y="4572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Conclusion and Future Scope</a:t>
            </a:r>
            <a:endParaRPr lang="en-US" sz="2700" dirty="0"/>
          </a:p>
        </p:txBody>
      </p:sp>
      <p:sp>
        <p:nvSpPr>
          <p:cNvPr id="20" name="Text 1"/>
          <p:cNvSpPr/>
          <p:nvPr/>
        </p:nvSpPr>
        <p:spPr>
          <a:xfrm>
            <a:off x="952500" y="1409700"/>
            <a:ext cx="5105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21" name="Text 2"/>
          <p:cNvSpPr/>
          <p:nvPr/>
        </p:nvSpPr>
        <p:spPr>
          <a:xfrm>
            <a:off x="895350" y="1866900"/>
            <a:ext cx="48196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Successfully transformed complex airline flight data into actionable strategic insights</a:t>
            </a:r>
            <a:endParaRPr lang="en-US" sz="1200" dirty="0"/>
          </a:p>
        </p:txBody>
      </p:sp>
      <p:sp>
        <p:nvSpPr>
          <p:cNvPr id="22" name="Text 3"/>
          <p:cNvSpPr/>
          <p:nvPr/>
        </p:nvSpPr>
        <p:spPr>
          <a:xfrm>
            <a:off x="876300" y="2476500"/>
            <a:ext cx="4838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Provided clear understanding of airline and airport-level performance</a:t>
            </a:r>
            <a:endParaRPr lang="en-US" sz="1200" dirty="0"/>
          </a:p>
        </p:txBody>
      </p:sp>
      <p:sp>
        <p:nvSpPr>
          <p:cNvPr id="23" name="Text 4"/>
          <p:cNvSpPr/>
          <p:nvPr/>
        </p:nvSpPr>
        <p:spPr>
          <a:xfrm>
            <a:off x="838200" y="3086100"/>
            <a:ext cx="4876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Visual analysis empowers stakeholders to make informed decisions</a:t>
            </a:r>
            <a:endParaRPr lang="en-US" sz="1200" dirty="0"/>
          </a:p>
        </p:txBody>
      </p:sp>
      <p:sp>
        <p:nvSpPr>
          <p:cNvPr id="24" name="Text 5"/>
          <p:cNvSpPr/>
          <p:nvPr/>
        </p:nvSpPr>
        <p:spPr>
          <a:xfrm>
            <a:off x="609600" y="3771900"/>
            <a:ext cx="5105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Project Completion</a:t>
            </a:r>
            <a:endParaRPr lang="en-US" sz="1050" dirty="0"/>
          </a:p>
        </p:txBody>
      </p:sp>
      <p:sp>
        <p:nvSpPr>
          <p:cNvPr id="25" name="Text 6"/>
          <p:cNvSpPr/>
          <p:nvPr/>
        </p:nvSpPr>
        <p:spPr>
          <a:xfrm>
            <a:off x="6819900" y="1409700"/>
            <a:ext cx="5105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26" name="Text 7"/>
          <p:cNvSpPr/>
          <p:nvPr/>
        </p:nvSpPr>
        <p:spPr>
          <a:xfrm>
            <a:off x="6743700" y="1866900"/>
            <a:ext cx="559605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Develop predictive models for flight delays and cancellations</a:t>
            </a:r>
            <a:endParaRPr lang="en-US" sz="1200" dirty="0"/>
          </a:p>
        </p:txBody>
      </p:sp>
      <p:sp>
        <p:nvSpPr>
          <p:cNvPr id="27" name="Text 8"/>
          <p:cNvSpPr/>
          <p:nvPr/>
        </p:nvSpPr>
        <p:spPr>
          <a:xfrm>
            <a:off x="6781800" y="2247900"/>
            <a:ext cx="4800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Integrate real-time weather data and air traffic control information</a:t>
            </a:r>
            <a:endParaRPr lang="en-US" sz="1200" dirty="0"/>
          </a:p>
        </p:txBody>
      </p:sp>
      <p:sp>
        <p:nvSpPr>
          <p:cNvPr id="28" name="Text 9"/>
          <p:cNvSpPr/>
          <p:nvPr/>
        </p:nvSpPr>
        <p:spPr>
          <a:xfrm>
            <a:off x="6762750" y="2857500"/>
            <a:ext cx="554194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Create live, interactive dashboard for continuous monitoring</a:t>
            </a:r>
            <a:endParaRPr lang="en-US" sz="1200" dirty="0"/>
          </a:p>
        </p:txBody>
      </p:sp>
      <p:sp>
        <p:nvSpPr>
          <p:cNvPr id="29" name="Text 10"/>
          <p:cNvSpPr/>
          <p:nvPr/>
        </p:nvSpPr>
        <p:spPr>
          <a:xfrm>
            <a:off x="6781800" y="3238500"/>
            <a:ext cx="490668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Expand analysis to include passenger sentiment data</a:t>
            </a:r>
            <a:endParaRPr lang="en-US" sz="1200" dirty="0"/>
          </a:p>
        </p:txBody>
      </p:sp>
      <p:sp>
        <p:nvSpPr>
          <p:cNvPr id="31" name="Text 12"/>
          <p:cNvSpPr/>
          <p:nvPr/>
        </p:nvSpPr>
        <p:spPr>
          <a:xfrm>
            <a:off x="9328547" y="4610100"/>
            <a:ext cx="297894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Thank you for your attention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918</Words>
  <Application>Microsoft Office PowerPoint</Application>
  <PresentationFormat>Widescreen</PresentationFormat>
  <Paragraphs>146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pujashree ethiraj</cp:lastModifiedBy>
  <cp:revision>3</cp:revision>
  <dcterms:created xsi:type="dcterms:W3CDTF">2025-11-17T12:15:10Z</dcterms:created>
  <dcterms:modified xsi:type="dcterms:W3CDTF">2025-11-17T13:00:52Z</dcterms:modified>
</cp:coreProperties>
</file>