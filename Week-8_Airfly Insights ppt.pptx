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79" r:id="rId8"/>
    <p:sldId id="264" r:id="rId9"/>
    <p:sldId id="265" r:id="rId10"/>
    <p:sldId id="266" r:id="rId11"/>
    <p:sldId id="267" r:id="rId12"/>
    <p:sldId id="270" r:id="rId13"/>
    <p:sldId id="269" r:id="rId14"/>
    <p:sldId id="268" r:id="rId15"/>
    <p:sldId id="280" r:id="rId16"/>
    <p:sldId id="282" r:id="rId17"/>
    <p:sldId id="273" r:id="rId18"/>
    <p:sldId id="274" r:id="rId19"/>
    <p:sldId id="275" r:id="rId20"/>
    <p:sldId id="278" r:id="rId21"/>
    <p:sldId id="28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8D2B2E-1C21-4275-A17C-065FD07BBCCF}">
          <p14:sldIdLst>
            <p14:sldId id="257"/>
            <p14:sldId id="258"/>
            <p14:sldId id="259"/>
            <p14:sldId id="260"/>
            <p14:sldId id="261"/>
          </p14:sldIdLst>
        </p14:section>
        <p14:section name="Data Collection and Preprocessing" id="{5433A779-4F05-4E05-8A22-A86099F282E6}">
          <p14:sldIdLst>
            <p14:sldId id="262"/>
            <p14:sldId id="279"/>
          </p14:sldIdLst>
        </p14:section>
        <p14:section name="Data Transformation" id="{4E11F507-5F79-4612-885E-D2A753D94FD4}">
          <p14:sldIdLst>
            <p14:sldId id="264"/>
            <p14:sldId id="265"/>
          </p14:sldIdLst>
        </p14:section>
        <p14:section name="Data Visualization" id="{E5EC9BED-B8D9-4E1C-A74F-F2406D691776}">
          <p14:sldIdLst>
            <p14:sldId id="266"/>
            <p14:sldId id="267"/>
          </p14:sldIdLst>
        </p14:section>
        <p14:section name="Dashboard Embedding" id="{FC7CA30A-07D3-44CD-A73E-8ED6C0016DF0}">
          <p14:sldIdLst>
            <p14:sldId id="270"/>
            <p14:sldId id="269"/>
          </p14:sldIdLst>
        </p14:section>
        <p14:section name="Web App Hosting" id="{7C1D3ABD-E720-4245-9D41-6E0E30EE9AE9}">
          <p14:sldIdLst>
            <p14:sldId id="268"/>
            <p14:sldId id="280"/>
            <p14:sldId id="282"/>
          </p14:sldIdLst>
        </p14:section>
        <p14:section name="Untitled Section" id="{9DE3741B-A576-439C-864E-007075787448}">
          <p14:sldIdLst>
            <p14:sldId id="273"/>
            <p14:sldId id="274"/>
            <p14:sldId id="275"/>
            <p14:sldId id="278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4B4"/>
    <a:srgbClr val="494848"/>
    <a:srgbClr val="636363"/>
    <a:srgbClr val="909090"/>
    <a:srgbClr val="D4D4D4"/>
    <a:srgbClr val="F0D968"/>
    <a:srgbClr val="FFDB58"/>
    <a:srgbClr val="0891B2"/>
    <a:srgbClr val="000080"/>
    <a:srgbClr val="4B5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98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502E5-9A7F-4553-A108-E2A2937066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D4F53-0D3F-4D57-904C-E6D765696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003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D4F53-0D3F-4D57-904C-E6D765696BC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70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40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22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06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3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2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29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54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79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38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47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04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C316C-C522-4F29-95EF-83F9611157C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C968D-8099-4DFF-8A86-7B5260665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90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8.png"/><Relationship Id="rId1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80.png"/><Relationship Id="rId17" Type="http://schemas.openxmlformats.org/officeDocument/2006/relationships/slide" Target="slide14.xml"/><Relationship Id="rId2" Type="http://schemas.openxmlformats.org/officeDocument/2006/relationships/image" Target="../media/image4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slide" Target="slide10.xml"/><Relationship Id="rId5" Type="http://schemas.openxmlformats.org/officeDocument/2006/relationships/slide" Target="slide6.xml"/><Relationship Id="rId15" Type="http://schemas.openxmlformats.org/officeDocument/2006/relationships/image" Target="../media/image90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70.png"/><Relationship Id="rId1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svg"/><Relationship Id="rId10" Type="http://schemas.openxmlformats.org/officeDocument/2006/relationships/image" Target="../media/image3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90063-3D76-7B06-6582-3C44ECF2E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9" b="849"/>
          <a:stretch/>
        </p:blipFill>
        <p:spPr>
          <a:xfrm>
            <a:off x="-866194" y="-1495628"/>
            <a:ext cx="16839011" cy="9316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151EAF-6816-AA17-A75E-9306A90B2836}"/>
              </a:ext>
            </a:extLst>
          </p:cNvPr>
          <p:cNvSpPr txBox="1"/>
          <p:nvPr/>
        </p:nvSpPr>
        <p:spPr>
          <a:xfrm>
            <a:off x="885101" y="204288"/>
            <a:ext cx="1042179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Airfly</a:t>
            </a:r>
            <a:r>
              <a:rPr lang="en-US" sz="4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 insights : data visualization and analysis of airline operation</a:t>
            </a:r>
            <a:endParaRPr lang="en-IN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1AFF4-02D5-7861-D88E-13638ED1C275}"/>
              </a:ext>
            </a:extLst>
          </p:cNvPr>
          <p:cNvSpPr/>
          <p:nvPr/>
        </p:nvSpPr>
        <p:spPr>
          <a:xfrm>
            <a:off x="15972817" y="-1495628"/>
            <a:ext cx="712885" cy="9316666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F524C-4F62-7383-4502-D3F6797CA06B}"/>
              </a:ext>
            </a:extLst>
          </p:cNvPr>
          <p:cNvSpPr txBox="1"/>
          <p:nvPr/>
        </p:nvSpPr>
        <p:spPr>
          <a:xfrm>
            <a:off x="16329259" y="448128"/>
            <a:ext cx="60960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Interactive Data Visualization of Global Travel and Holidays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Mentor Name: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332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EC708-7A15-4441-8CFF-42E5A839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FD353F-16F1-DFED-FE47-8DAE215A7D1C}"/>
              </a:ext>
            </a:extLst>
          </p:cNvPr>
          <p:cNvSpPr txBox="1"/>
          <p:nvPr/>
        </p:nvSpPr>
        <p:spPr>
          <a:xfrm>
            <a:off x="-8860972" y="589641"/>
            <a:ext cx="90560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WorldVoyage: Global Holidays and Travel Data</a:t>
            </a:r>
            <a:endParaRPr lang="en-IN" sz="45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FF6F9-CC6F-602F-D026-9C235E11E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70081" y="-644482"/>
            <a:ext cx="17358134" cy="97697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B1F567-2C88-5967-AF3F-51319379E371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106E2-DE83-718C-EBBB-D699F5DAD0B3}"/>
              </a:ext>
            </a:extLst>
          </p:cNvPr>
          <p:cNvSpPr txBox="1"/>
          <p:nvPr/>
        </p:nvSpPr>
        <p:spPr>
          <a:xfrm>
            <a:off x="6344027" y="985520"/>
            <a:ext cx="5766693" cy="5232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Airfly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 insights : data visualization and analysis of airline operation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Mentor Name: swaraj </a:t>
            </a:r>
            <a:r>
              <a:rPr lang="en-IN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aalla</a:t>
            </a:r>
            <a:endParaRPr lang="en-IN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  <a:p>
            <a:endParaRPr lang="en-IN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  <a:p>
            <a:endParaRPr lang="en-IN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188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6CC630-4492-8610-C246-84A5285437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E83772-8EAA-BBB6-8D9E-EA258588E8A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8" t="16761"/>
          <a:stretch>
            <a:fillRect/>
          </a:stretch>
        </p:blipFill>
        <p:spPr>
          <a:xfrm>
            <a:off x="8036559" y="2153920"/>
            <a:ext cx="3660491" cy="3193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F433AE-1B3E-19E0-977D-5D2E7EE4C9F0}"/>
              </a:ext>
            </a:extLst>
          </p:cNvPr>
          <p:cNvSpPr txBox="1"/>
          <p:nvPr/>
        </p:nvSpPr>
        <p:spPr>
          <a:xfrm>
            <a:off x="501479" y="1255742"/>
            <a:ext cx="73479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large-scale airline flight data to uncover key patterns in operations, delays, cancellations, and travel behavior.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major routes, seasonal travel trends, delay causes, and cancellation patterns.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charts, maps, and KPIs make complex information easy to explore and understand.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support airlines, airports, and decision-makers with actionable insights that improve operational planning, reduce delays, and enhance passenger experience.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ED44A9-9532-5E22-241F-C93D49E77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0079">
            <a:off x="-147767" y="5220230"/>
            <a:ext cx="5153376" cy="25766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39044F-EAD8-33C6-5085-6BA32981560A}"/>
              </a:ext>
            </a:extLst>
          </p:cNvPr>
          <p:cNvSpPr txBox="1"/>
          <p:nvPr/>
        </p:nvSpPr>
        <p:spPr>
          <a:xfrm>
            <a:off x="0" y="4330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Britannic Bold" panose="020B0903060703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50994993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D8CD6B-1EBB-170C-D1BE-38C2EE082F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1546B-868E-55DF-EE9C-ACD10155C069}"/>
              </a:ext>
            </a:extLst>
          </p:cNvPr>
          <p:cNvSpPr txBox="1"/>
          <p:nvPr/>
        </p:nvSpPr>
        <p:spPr>
          <a:xfrm>
            <a:off x="1742200" y="446852"/>
            <a:ext cx="824586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dirty="0">
                <a:latin typeface="Britannic Bold" panose="020B0903060703020204" pitchFamily="34" charset="0"/>
              </a:rPr>
              <a:t>Dataset Overview</a:t>
            </a:r>
            <a:endParaRPr lang="en-US" sz="48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airline delay dataset was analyzed to study flight trends, delay behavior, and performance metrics.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dataset contained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484,551 rows and 29 columns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data cleaning and feature engineering, the dataset was reduced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484,549 rows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attributes were added, increasing the total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 columns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processed dataset.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dataset comprises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14,051,979 total data points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detailed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5D1E8-B21A-AFBB-FA1D-C9CFCF3CD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0079">
            <a:off x="-147767" y="5220230"/>
            <a:ext cx="5153376" cy="257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57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A9670-B93E-721A-85EF-FBFEAF5344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6" name="Section Zoom 5">
                <a:extLst>
                  <a:ext uri="{FF2B5EF4-FFF2-40B4-BE49-F238E27FC236}">
                    <a16:creationId xmlns:a16="http://schemas.microsoft.com/office/drawing/2014/main" id="{2747FF09-B7F5-EF85-FA93-CC75D4E356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08878688"/>
                  </p:ext>
                </p:extLst>
              </p:nvPr>
            </p:nvGraphicFramePr>
            <p:xfrm>
              <a:off x="267903" y="395003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5433A779-4F05-4E05-8A22-A86099F282E6}">
                    <psez:zmPr id="{A6BDC141-CC20-4145-AD2E-0D73E13BDD2D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6" name="Section Zoom 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2747FF09-B7F5-EF85-FA93-CC75D4E356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903" y="3950034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0" name="Section Zoom 9">
                <a:extLst>
                  <a:ext uri="{FF2B5EF4-FFF2-40B4-BE49-F238E27FC236}">
                    <a16:creationId xmlns:a16="http://schemas.microsoft.com/office/drawing/2014/main" id="{1482E030-D8E5-4F2E-1B72-21906300B0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70974711"/>
                  </p:ext>
                </p:extLst>
              </p:nvPr>
            </p:nvGraphicFramePr>
            <p:xfrm>
              <a:off x="2171700" y="133316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4E11F507-5F79-4612-885E-D2A753D94FD4}">
                    <psez:zmPr id="{3C8623EF-EA98-45C8-8868-6365825FF500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0" name="Section Zoom 9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1482E030-D8E5-4F2E-1B72-21906300B0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71700" y="1333166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2" name="Section Zoom 11">
                <a:extLst>
                  <a:ext uri="{FF2B5EF4-FFF2-40B4-BE49-F238E27FC236}">
                    <a16:creationId xmlns:a16="http://schemas.microsoft.com/office/drawing/2014/main" id="{23A4B03F-96B5-84AA-230D-D41E403E1E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2774679"/>
                  </p:ext>
                </p:extLst>
              </p:nvPr>
            </p:nvGraphicFramePr>
            <p:xfrm>
              <a:off x="4258122" y="395003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E5EC9BED-B8D9-4E1C-A74F-F2406D691776}">
                    <psez:zmPr id="{45595181-EA6C-4155-8EBD-044D038A0615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2" name="Section Zoom 11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23A4B03F-96B5-84AA-230D-D41E403E1E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58122" y="3950034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4" name="Section Zoom 13">
                <a:extLst>
                  <a:ext uri="{FF2B5EF4-FFF2-40B4-BE49-F238E27FC236}">
                    <a16:creationId xmlns:a16="http://schemas.microsoft.com/office/drawing/2014/main" id="{C81286FE-3F71-9443-9936-B668262B2F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5573817"/>
                  </p:ext>
                </p:extLst>
              </p:nvPr>
            </p:nvGraphicFramePr>
            <p:xfrm>
              <a:off x="6451593" y="133316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FC7CA30A-07D3-44CD-A73E-8ED6C0016DF0}">
                    <psez:zmPr id="{303092F6-0607-499C-B5B8-6485EC04820B}" transitionDur="1000" showBg="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4" name="Section Zoom 13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C81286FE-3F71-9443-9936-B668262B2F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51593" y="1333166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6" name="Section Zoom 15">
                <a:extLst>
                  <a:ext uri="{FF2B5EF4-FFF2-40B4-BE49-F238E27FC236}">
                    <a16:creationId xmlns:a16="http://schemas.microsoft.com/office/drawing/2014/main" id="{FB56F9DE-4D64-8009-47A8-BE2003EDA26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764900"/>
                  </p:ext>
                </p:extLst>
              </p:nvPr>
            </p:nvGraphicFramePr>
            <p:xfrm>
              <a:off x="8329613" y="3965807"/>
              <a:ext cx="3000375" cy="1682952"/>
            </p:xfrm>
            <a:graphic>
              <a:graphicData uri="http://schemas.microsoft.com/office/powerpoint/2016/sectionzoom">
                <psez:sectionZm>
                  <psez:sectionZmObj sectionId="{7C1D3ABD-E720-4245-9D41-6E0E30EE9AE9}">
                    <psez:zmPr id="{021E375E-55C4-4122-9BDC-E71AF66DFBAD}" transitionDur="1000" showBg="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00375" cy="1682952"/>
                        </a:xfrm>
                        <a:prstGeom prst="rect">
                          <a:avLst/>
                        </a:prstGeom>
                        <a:effectLst>
                          <a:glow rad="127000">
                            <a:schemeClr val="accent1">
                              <a:lumMod val="20000"/>
                              <a:lumOff val="80000"/>
                            </a:schemeClr>
                          </a:glo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6" name="Section Zoom 15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FB56F9DE-4D64-8009-47A8-BE2003EDA2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29613" y="3965807"/>
                <a:ext cx="3000375" cy="1682952"/>
              </a:xfrm>
              <a:prstGeom prst="rect">
                <a:avLst/>
              </a:prstGeom>
              <a:effectLst>
                <a:glow rad="127000">
                  <a:schemeClr val="accent1">
                    <a:lumMod val="20000"/>
                    <a:lumOff val="80000"/>
                  </a:schemeClr>
                </a:glow>
              </a:effectLst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6F603-80C7-E523-655B-476D6365FE81}"/>
              </a:ext>
            </a:extLst>
          </p:cNvPr>
          <p:cNvCxnSpPr>
            <a:cxnSpLocks/>
          </p:cNvCxnSpPr>
          <p:nvPr/>
        </p:nvCxnSpPr>
        <p:spPr>
          <a:xfrm flipV="1">
            <a:off x="2171700" y="2612571"/>
            <a:ext cx="825500" cy="1337463"/>
          </a:xfrm>
          <a:prstGeom prst="line">
            <a:avLst/>
          </a:prstGeom>
          <a:ln w="635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EB6B65-B0FA-C4A8-A128-9762BF16973B}"/>
              </a:ext>
            </a:extLst>
          </p:cNvPr>
          <p:cNvCxnSpPr>
            <a:cxnSpLocks/>
          </p:cNvCxnSpPr>
          <p:nvPr/>
        </p:nvCxnSpPr>
        <p:spPr>
          <a:xfrm flipH="1" flipV="1">
            <a:off x="4470400" y="2612571"/>
            <a:ext cx="965200" cy="1337463"/>
          </a:xfrm>
          <a:prstGeom prst="line">
            <a:avLst/>
          </a:prstGeom>
          <a:ln w="635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7A54ED-7028-2D38-B560-9ECC739E90DB}"/>
              </a:ext>
            </a:extLst>
          </p:cNvPr>
          <p:cNvCxnSpPr>
            <a:cxnSpLocks/>
          </p:cNvCxnSpPr>
          <p:nvPr/>
        </p:nvCxnSpPr>
        <p:spPr>
          <a:xfrm flipV="1">
            <a:off x="6299200" y="2612571"/>
            <a:ext cx="1006922" cy="1337463"/>
          </a:xfrm>
          <a:prstGeom prst="line">
            <a:avLst/>
          </a:prstGeom>
          <a:ln w="635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CB6849-2B9B-0297-BB22-BF431D033847}"/>
              </a:ext>
            </a:extLst>
          </p:cNvPr>
          <p:cNvCxnSpPr>
            <a:cxnSpLocks/>
          </p:cNvCxnSpPr>
          <p:nvPr/>
        </p:nvCxnSpPr>
        <p:spPr>
          <a:xfrm flipH="1" flipV="1">
            <a:off x="8737600" y="2612571"/>
            <a:ext cx="761993" cy="1337463"/>
          </a:xfrm>
          <a:prstGeom prst="line">
            <a:avLst/>
          </a:prstGeom>
          <a:ln w="635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4E1D918-05B3-8F9B-8437-41D7FFE7288C}"/>
              </a:ext>
            </a:extLst>
          </p:cNvPr>
          <p:cNvSpPr txBox="1"/>
          <p:nvPr/>
        </p:nvSpPr>
        <p:spPr>
          <a:xfrm>
            <a:off x="2984500" y="0"/>
            <a:ext cx="6223000" cy="921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3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Britannic Bold" panose="020B0903060703020204" pitchFamily="34" charset="0"/>
                <a:ea typeface="Times New Roman MT Bold"/>
                <a:cs typeface="Times New Roman MT Bold"/>
                <a:sym typeface="Times New Roman MT Bold"/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4019231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57B3EF8-AFE2-1E86-D0ED-3519295E3FA6}"/>
              </a:ext>
            </a:extLst>
          </p:cNvPr>
          <p:cNvSpPr/>
          <p:nvPr/>
        </p:nvSpPr>
        <p:spPr>
          <a:xfrm>
            <a:off x="3051175" y="342900"/>
            <a:ext cx="6280150" cy="61722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A2DA7-2AB0-CE8C-AF3A-24299B61F949}"/>
              </a:ext>
            </a:extLst>
          </p:cNvPr>
          <p:cNvSpPr txBox="1"/>
          <p:nvPr/>
        </p:nvSpPr>
        <p:spPr>
          <a:xfrm>
            <a:off x="3159125" y="3581400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ritannic Bold" panose="020B0903060703020204" pitchFamily="34" charset="0"/>
              </a:rPr>
              <a:t>Data Cleaning and Preprocessing</a:t>
            </a:r>
            <a:endParaRPr lang="en-IN" sz="48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7" name="Graphic 6" descr="Research with solid fill">
            <a:extLst>
              <a:ext uri="{FF2B5EF4-FFF2-40B4-BE49-F238E27FC236}">
                <a16:creationId xmlns:a16="http://schemas.microsoft.com/office/drawing/2014/main" id="{ECC327F3-C27E-1BF0-3B41-32A639866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0035" y="1526570"/>
            <a:ext cx="1902430" cy="19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36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05448A4-B859-557E-1981-078B84A05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8703" y="-1554480"/>
            <a:ext cx="15060522" cy="92862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668F37-1652-A239-70E4-43807D0221DE}"/>
              </a:ext>
            </a:extLst>
          </p:cNvPr>
          <p:cNvSpPr/>
          <p:nvPr/>
        </p:nvSpPr>
        <p:spPr>
          <a:xfrm>
            <a:off x="-1531544" y="-3714750"/>
            <a:ext cx="15255081" cy="14287500"/>
          </a:xfrm>
          <a:prstGeom prst="flowChartConnector">
            <a:avLst/>
          </a:prstGeom>
          <a:solidFill>
            <a:schemeClr val="tx1">
              <a:lumMod val="85000"/>
              <a:lumOff val="15000"/>
              <a:alpha val="62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E6589-2705-AC89-2C30-8216F5A5E94A}"/>
              </a:ext>
            </a:extLst>
          </p:cNvPr>
          <p:cNvSpPr txBox="1"/>
          <p:nvPr/>
        </p:nvSpPr>
        <p:spPr>
          <a:xfrm>
            <a:off x="-14442" y="113638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ritannic Bold" panose="020B0903060703020204" pitchFamily="34" charset="0"/>
              </a:rPr>
              <a:t>Data Cleaning and Preprocessing</a:t>
            </a:r>
            <a:endParaRPr lang="en-IN" sz="48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29F0F-D4DC-CECF-3B3F-886ED5470D1D}"/>
              </a:ext>
            </a:extLst>
          </p:cNvPr>
          <p:cNvSpPr txBox="1"/>
          <p:nvPr/>
        </p:nvSpPr>
        <p:spPr>
          <a:xfrm>
            <a:off x="831846" y="1329682"/>
            <a:ext cx="1084199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Cleaning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missing, duplicate, and inconsistent flight records.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date/time formats (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DepTime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ArrTime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FlightDate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incorrect or negative delay values using logical rules.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Transformation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data types (integer, float, datetime) to ensure accuracy.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 columns like Airline, Origin, Destination for uniform formatting.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Extracted new fields from timestamps (Year, Month, Day, Hour)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Origin → Destination.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MonthName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MonthNum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sorting and seasonal patterns.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TotalDelay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DelayFlag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CancellationReason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fields.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Data Reduction &amp; Optimization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irrelevant columns to improve performance.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Downcast numerical data to reduce memory usage.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Filtered dataset to include only meaningful flight records.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756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604CF-D543-465B-D26A-59E049F1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D256407A-A5C8-7D78-1A85-E0D653E288A4}"/>
              </a:ext>
            </a:extLst>
          </p:cNvPr>
          <p:cNvSpPr/>
          <p:nvPr/>
        </p:nvSpPr>
        <p:spPr>
          <a:xfrm>
            <a:off x="3051175" y="342900"/>
            <a:ext cx="6280150" cy="61722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1CEF2-863E-00C3-9110-B3CB6E79EB36}"/>
              </a:ext>
            </a:extLst>
          </p:cNvPr>
          <p:cNvSpPr txBox="1"/>
          <p:nvPr/>
        </p:nvSpPr>
        <p:spPr>
          <a:xfrm>
            <a:off x="3051175" y="3189238"/>
            <a:ext cx="617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EDA </a:t>
            </a:r>
          </a:p>
          <a:p>
            <a:pPr algn="ctr"/>
            <a:r>
              <a:rPr lang="en-US" sz="5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Analysis</a:t>
            </a:r>
            <a:endParaRPr lang="en-IN" sz="54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8" name="Graphic 7" descr="Transfer with solid fill">
            <a:extLst>
              <a:ext uri="{FF2B5EF4-FFF2-40B4-BE49-F238E27FC236}">
                <a16:creationId xmlns:a16="http://schemas.microsoft.com/office/drawing/2014/main" id="{A8DA5C68-A829-6AFC-4F15-CFE401484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0" y="98339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11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460D-5AC8-11C1-BED2-6721EFCD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A5593B-11B1-C196-BC35-C264134190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21" b="523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7E87B5CB-23EC-F81B-45C0-80CE08ADFFB1}"/>
              </a:ext>
            </a:extLst>
          </p:cNvPr>
          <p:cNvSpPr/>
          <p:nvPr/>
        </p:nvSpPr>
        <p:spPr>
          <a:xfrm>
            <a:off x="-1531544" y="-3988653"/>
            <a:ext cx="15255081" cy="14287500"/>
          </a:xfrm>
          <a:prstGeom prst="flowChartConnector">
            <a:avLst/>
          </a:prstGeom>
          <a:solidFill>
            <a:schemeClr val="tx1">
              <a:lumMod val="85000"/>
              <a:lumOff val="15000"/>
              <a:alpha val="62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13BED4-8B52-49C7-52B7-AA15548DFAB2}"/>
              </a:ext>
            </a:extLst>
          </p:cNvPr>
          <p:cNvSpPr txBox="1"/>
          <p:nvPr/>
        </p:nvSpPr>
        <p:spPr>
          <a:xfrm>
            <a:off x="-200760" y="1874103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ritannic Bold" panose="020B0903060703020204" pitchFamily="34" charset="0"/>
              </a:rPr>
              <a:t>EDA Analysis</a:t>
            </a:r>
            <a:endParaRPr lang="en-IN" sz="48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4" name="Graphic 3" descr="Transfer with solid fill">
            <a:extLst>
              <a:ext uri="{FF2B5EF4-FFF2-40B4-BE49-F238E27FC236}">
                <a16:creationId xmlns:a16="http://schemas.microsoft.com/office/drawing/2014/main" id="{6270AB11-703D-F0CA-7EC7-1CF5C0EA7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8445" y="635000"/>
            <a:ext cx="1435100" cy="1435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C7CA96-45DC-5BE9-C8F5-C127F214F618}"/>
              </a:ext>
            </a:extLst>
          </p:cNvPr>
          <p:cNvSpPr txBox="1"/>
          <p:nvPr/>
        </p:nvSpPr>
        <p:spPr>
          <a:xfrm>
            <a:off x="1835145" y="2599353"/>
            <a:ext cx="90043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the distribution of delays, cancellation counts, flight timings, and monthly travel patterns.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right-skewed delay distributions with a few extreme outliers.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the busiest months, days, and airlines based on overall flight frequency.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/ Multivariate Analysis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delays across airlines, routes, and airports to identify high-delay segments.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correlation heatmaps to study relationships between delay variables.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a strong correlation between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Departure Delay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Arrival Delay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dependency.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628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58567-F81D-D869-9134-F5BB64A5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8C401D9-8F08-5BB2-6EBC-698262209B5F}"/>
              </a:ext>
            </a:extLst>
          </p:cNvPr>
          <p:cNvSpPr/>
          <p:nvPr/>
        </p:nvSpPr>
        <p:spPr>
          <a:xfrm>
            <a:off x="3051175" y="342900"/>
            <a:ext cx="6280150" cy="61722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EF48E-A6EB-09DA-7CB6-5372000AE55C}"/>
              </a:ext>
            </a:extLst>
          </p:cNvPr>
          <p:cNvSpPr txBox="1"/>
          <p:nvPr/>
        </p:nvSpPr>
        <p:spPr>
          <a:xfrm>
            <a:off x="3105150" y="3341914"/>
            <a:ext cx="617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Data </a:t>
            </a:r>
          </a:p>
          <a:p>
            <a:pPr algn="ctr"/>
            <a:r>
              <a:rPr lang="en-US" sz="5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Visualization</a:t>
            </a:r>
            <a:endParaRPr lang="en-IN" sz="54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3" name="Graphic 2" descr="Bar chart with solid fill">
            <a:extLst>
              <a:ext uri="{FF2B5EF4-FFF2-40B4-BE49-F238E27FC236}">
                <a16:creationId xmlns:a16="http://schemas.microsoft.com/office/drawing/2014/main" id="{80C5A374-9358-7DE3-E510-78F359701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5499" y="719445"/>
            <a:ext cx="2359452" cy="235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6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E9C0-26F3-2627-4177-11FDE36B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77AAECA-4386-6DF9-1081-426F06FFF3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1" b="37809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EAF3836D-FD0E-3040-7BA9-631B14C6ADE8}"/>
              </a:ext>
            </a:extLst>
          </p:cNvPr>
          <p:cNvSpPr/>
          <p:nvPr/>
        </p:nvSpPr>
        <p:spPr>
          <a:xfrm>
            <a:off x="-1531544" y="-4085139"/>
            <a:ext cx="15255081" cy="14287500"/>
          </a:xfrm>
          <a:prstGeom prst="flowChartConnector">
            <a:avLst/>
          </a:prstGeom>
          <a:solidFill>
            <a:schemeClr val="tx1">
              <a:lumMod val="85000"/>
              <a:lumOff val="15000"/>
              <a:alpha val="62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D7034C-2450-8C0D-6DA7-C7D399794CF2}"/>
              </a:ext>
            </a:extLst>
          </p:cNvPr>
          <p:cNvSpPr txBox="1"/>
          <p:nvPr/>
        </p:nvSpPr>
        <p:spPr>
          <a:xfrm>
            <a:off x="90025" y="1918443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ritannic Bold" panose="020B0903060703020204" pitchFamily="34" charset="0"/>
              </a:rPr>
              <a:t>Data Visualization</a:t>
            </a:r>
            <a:endParaRPr lang="en-IN" sz="48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2" name="Graphic 1" descr="Bar chart with solid fill">
            <a:extLst>
              <a:ext uri="{FF2B5EF4-FFF2-40B4-BE49-F238E27FC236}">
                <a16:creationId xmlns:a16="http://schemas.microsoft.com/office/drawing/2014/main" id="{3ED04D2F-9A14-7A22-B7F2-A549EA3A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3584" y="774007"/>
            <a:ext cx="1344826" cy="13448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899F1E-ABEE-A468-0F70-2D9E81FDC2B1}"/>
              </a:ext>
            </a:extLst>
          </p:cNvPr>
          <p:cNvSpPr txBox="1"/>
          <p:nvPr/>
        </p:nvSpPr>
        <p:spPr>
          <a:xfrm>
            <a:off x="1779043" y="2786215"/>
            <a:ext cx="9004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multiple visualizations including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charts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pie/donut charts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plots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boxplots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explore flight trends, delays, cancellations, and route performance.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visualizations helped identify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busiest airlines, top routes, and peak travel months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delay patterns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the dataset.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heatmaps revealed a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relationship between departure and arrival delays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while pie charts highlighted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and NAS-related cancellations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and boxplot analyses uncovered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frequency, outliers, and airline-wise delay variability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providing deeper insights into route-specific and seasonal behavior</a:t>
            </a:r>
            <a:r>
              <a:rPr lang="en-US" sz="2000" dirty="0"/>
              <a:t>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13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F6BA0-9697-2F6D-07AF-04FD3074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D87CB7C-4D8A-4F24-E274-61D42F60C934}"/>
              </a:ext>
            </a:extLst>
          </p:cNvPr>
          <p:cNvSpPr/>
          <p:nvPr/>
        </p:nvSpPr>
        <p:spPr>
          <a:xfrm>
            <a:off x="3051175" y="342900"/>
            <a:ext cx="6280150" cy="61722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20ECE-0189-68BA-3381-44803F1F6675}"/>
              </a:ext>
            </a:extLst>
          </p:cNvPr>
          <p:cNvSpPr txBox="1"/>
          <p:nvPr/>
        </p:nvSpPr>
        <p:spPr>
          <a:xfrm>
            <a:off x="3051175" y="3307497"/>
            <a:ext cx="61581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Delay &amp; cancellation Analysis</a:t>
            </a:r>
          </a:p>
        </p:txBody>
      </p:sp>
      <p:pic>
        <p:nvPicPr>
          <p:cNvPr id="3" name="Graphic 2" descr="Statistics with solid fill">
            <a:extLst>
              <a:ext uri="{FF2B5EF4-FFF2-40B4-BE49-F238E27FC236}">
                <a16:creationId xmlns:a16="http://schemas.microsoft.com/office/drawing/2014/main" id="{0808693D-DEFB-4B30-CE9E-45E74940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29199" y="889027"/>
            <a:ext cx="2296886" cy="22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31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7A87-C2C4-D35C-D414-740ABC1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C3C406-0B78-9D73-AA80-4A2D3B543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1" b="73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64E34C63-2703-15C4-4707-1BA3388713F2}"/>
              </a:ext>
            </a:extLst>
          </p:cNvPr>
          <p:cNvSpPr/>
          <p:nvPr/>
        </p:nvSpPr>
        <p:spPr>
          <a:xfrm>
            <a:off x="-1531541" y="-3831291"/>
            <a:ext cx="15255081" cy="14287500"/>
          </a:xfrm>
          <a:prstGeom prst="flowChartConnector">
            <a:avLst/>
          </a:prstGeom>
          <a:solidFill>
            <a:schemeClr val="tx1">
              <a:lumMod val="85000"/>
              <a:lumOff val="15000"/>
              <a:alpha val="62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2549A9-D2CD-92B4-B6A5-3F579D833345}"/>
              </a:ext>
            </a:extLst>
          </p:cNvPr>
          <p:cNvSpPr txBox="1"/>
          <p:nvPr/>
        </p:nvSpPr>
        <p:spPr>
          <a:xfrm>
            <a:off x="1" y="1303257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ritannic Bold" panose="020B0903060703020204" pitchFamily="34" charset="0"/>
              </a:rPr>
              <a:t>Delay &amp; Cancellation Analysis</a:t>
            </a:r>
            <a:endParaRPr lang="en-IN" sz="48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4" name="Graphic 3" descr="Statistics with solid fill">
            <a:extLst>
              <a:ext uri="{FF2B5EF4-FFF2-40B4-BE49-F238E27FC236}">
                <a16:creationId xmlns:a16="http://schemas.microsoft.com/office/drawing/2014/main" id="{2B31A656-0777-2EDE-6AB2-C281D5EC6D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63741" y="67646"/>
            <a:ext cx="1448634" cy="14486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6180EE-FF1F-63BF-7545-5A6173E6B9E9}"/>
              </a:ext>
            </a:extLst>
          </p:cNvPr>
          <p:cNvSpPr txBox="1"/>
          <p:nvPr/>
        </p:nvSpPr>
        <p:spPr>
          <a:xfrm>
            <a:off x="1983341" y="2233969"/>
            <a:ext cx="88580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Delay Analysis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Departure Delay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Arrival Delay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airlines, routes, and airports.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that delays show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pattern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most flights experiencing minor delays and a few extreme outliers.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delay hours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during morning and evening flight windows.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analysis revealed higher delays during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winter and holiday months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 observed between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DepDelay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ArrDelay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early delays propagate throughout the route.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Cancellation Analysis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Examined overall cancellations and categorized them by reason: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 (Air Traffic Control)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Weather-related cancellations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showed clear seasonal spikes (winter, storms).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Carrier-related cancellations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more consistent across the year.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Route-level analysis highlighted airports with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cancellation probabilities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due to operational and environmental factors.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35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8F606-41BA-EDAA-338D-2599EE369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36AFDF58-0401-23C8-A9B3-5E0737FC08CA}"/>
              </a:ext>
            </a:extLst>
          </p:cNvPr>
          <p:cNvSpPr/>
          <p:nvPr/>
        </p:nvSpPr>
        <p:spPr>
          <a:xfrm>
            <a:off x="3051175" y="342900"/>
            <a:ext cx="6280150" cy="61722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B8250-79C5-EBC1-D885-E15CCE23BD63}"/>
              </a:ext>
            </a:extLst>
          </p:cNvPr>
          <p:cNvSpPr txBox="1"/>
          <p:nvPr/>
        </p:nvSpPr>
        <p:spPr>
          <a:xfrm>
            <a:off x="3051175" y="3307497"/>
            <a:ext cx="62801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>
                <a:solidFill>
                  <a:schemeClr val="bg1"/>
                </a:solidFill>
                <a:latin typeface="Britannic Bold" panose="020B0903060703020204" pitchFamily="34" charset="0"/>
              </a:rPr>
              <a:t>PowerBI</a:t>
            </a:r>
            <a:r>
              <a:rPr lang="en-US" sz="5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 </a:t>
            </a:r>
          </a:p>
          <a:p>
            <a:pPr algn="ctr"/>
            <a:r>
              <a:rPr lang="en-US" sz="5400" b="1" dirty="0">
                <a:solidFill>
                  <a:schemeClr val="bg1"/>
                </a:solidFill>
                <a:latin typeface="Britannic Bold" panose="020B0903060703020204" pitchFamily="34" charset="0"/>
              </a:rPr>
              <a:t>Dashboard</a:t>
            </a:r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FC6BE75E-B100-8718-0D2A-73C42567A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4750" y="665897"/>
            <a:ext cx="24130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28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C85956-1E8B-6B47-184C-D1794A75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10"/>
            <a:ext cx="12192000" cy="684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65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9AF5C2-5548-008D-053C-FA5454B6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"/>
            <a:ext cx="12192000" cy="685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2D19704-CACD-5B98-9B68-ABE3E6D416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216759" y="1583436"/>
            <a:ext cx="962889" cy="908960"/>
          </a:xfrm>
          <a:custGeom>
            <a:avLst/>
            <a:gdLst/>
            <a:ahLst/>
            <a:cxnLst/>
            <a:rect l="l" t="t" r="r" b="b"/>
            <a:pathLst>
              <a:path w="1835758" h="1835758">
                <a:moveTo>
                  <a:pt x="0" y="0"/>
                </a:moveTo>
                <a:lnTo>
                  <a:pt x="1835758" y="0"/>
                </a:lnTo>
                <a:lnTo>
                  <a:pt x="1835758" y="1835757"/>
                </a:lnTo>
                <a:lnTo>
                  <a:pt x="0" y="1835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Freeform 16"/>
          <p:cNvSpPr/>
          <p:nvPr/>
        </p:nvSpPr>
        <p:spPr>
          <a:xfrm>
            <a:off x="1123979" y="4934402"/>
            <a:ext cx="1055669" cy="1066747"/>
          </a:xfrm>
          <a:custGeom>
            <a:avLst/>
            <a:gdLst/>
            <a:ahLst/>
            <a:cxnLst/>
            <a:rect l="l" t="t" r="r" b="b"/>
            <a:pathLst>
              <a:path w="1964684" h="1964684">
                <a:moveTo>
                  <a:pt x="0" y="0"/>
                </a:moveTo>
                <a:lnTo>
                  <a:pt x="1964684" y="0"/>
                </a:lnTo>
                <a:lnTo>
                  <a:pt x="1964684" y="1964684"/>
                </a:lnTo>
                <a:lnTo>
                  <a:pt x="0" y="1964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0" name="Freeform 20" descr="Hourglass Finished with solid fill"/>
          <p:cNvSpPr/>
          <p:nvPr/>
        </p:nvSpPr>
        <p:spPr>
          <a:xfrm>
            <a:off x="6917526" y="1583436"/>
            <a:ext cx="962890" cy="936910"/>
          </a:xfrm>
          <a:custGeom>
            <a:avLst/>
            <a:gdLst/>
            <a:ahLst/>
            <a:cxnLst/>
            <a:rect l="l" t="t" r="r" b="b"/>
            <a:pathLst>
              <a:path w="1804823" h="1804823">
                <a:moveTo>
                  <a:pt x="0" y="0"/>
                </a:moveTo>
                <a:lnTo>
                  <a:pt x="1804824" y="0"/>
                </a:lnTo>
                <a:lnTo>
                  <a:pt x="1804824" y="1804823"/>
                </a:lnTo>
                <a:lnTo>
                  <a:pt x="0" y="18048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 descr="Atom with solid fill"/>
          <p:cNvSpPr/>
          <p:nvPr/>
        </p:nvSpPr>
        <p:spPr>
          <a:xfrm>
            <a:off x="6980803" y="3105900"/>
            <a:ext cx="1055670" cy="1023712"/>
          </a:xfrm>
          <a:custGeom>
            <a:avLst/>
            <a:gdLst/>
            <a:ahLst/>
            <a:cxnLst/>
            <a:rect l="l" t="t" r="r" b="b"/>
            <a:pathLst>
              <a:path w="1993086" h="1993086">
                <a:moveTo>
                  <a:pt x="0" y="0"/>
                </a:moveTo>
                <a:lnTo>
                  <a:pt x="1993086" y="0"/>
                </a:lnTo>
                <a:lnTo>
                  <a:pt x="1993086" y="1993086"/>
                </a:lnTo>
                <a:lnTo>
                  <a:pt x="0" y="1993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 descr="Social network with solid fill"/>
          <p:cNvSpPr/>
          <p:nvPr/>
        </p:nvSpPr>
        <p:spPr>
          <a:xfrm>
            <a:off x="6917526" y="4972829"/>
            <a:ext cx="1055669" cy="1023712"/>
          </a:xfrm>
          <a:custGeom>
            <a:avLst/>
            <a:gdLst/>
            <a:ahLst/>
            <a:cxnLst/>
            <a:rect l="l" t="t" r="r" b="b"/>
            <a:pathLst>
              <a:path w="1956202" h="1956202">
                <a:moveTo>
                  <a:pt x="0" y="0"/>
                </a:moveTo>
                <a:lnTo>
                  <a:pt x="1956202" y="0"/>
                </a:lnTo>
                <a:lnTo>
                  <a:pt x="1956202" y="1956202"/>
                </a:lnTo>
                <a:lnTo>
                  <a:pt x="0" y="1956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TextBox 32"/>
          <p:cNvSpPr txBox="1"/>
          <p:nvPr/>
        </p:nvSpPr>
        <p:spPr>
          <a:xfrm>
            <a:off x="3181179" y="279460"/>
            <a:ext cx="5829643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6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Britannic Bold" panose="020B0903060703020204" pitchFamily="34" charset="0"/>
                <a:ea typeface="Times New Roman MT Bold"/>
                <a:cs typeface="Times New Roman MT Bold"/>
                <a:sym typeface="Times New Roman MT Bold"/>
              </a:rPr>
              <a:t>CHALLENGES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03605" y="3225787"/>
            <a:ext cx="3396369" cy="888610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33867" tIns="33867" rIns="33867" bIns="33867" rtlCol="0" anchor="ctr"/>
          <a:lstStyle/>
          <a:p>
            <a:pPr algn="ctr">
              <a:lnSpc>
                <a:spcPts val="3453"/>
              </a:lnSpc>
            </a:pPr>
            <a:r>
              <a:rPr lang="en-US" sz="2200" dirty="0">
                <a:solidFill>
                  <a:srgbClr val="FFFFFF"/>
                </a:solidFill>
                <a:latin typeface="Abadi" panose="020B0604020104020204" pitchFamily="34" charset="0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Large Dataset Processing</a:t>
            </a:r>
            <a:endParaRPr lang="en-US" sz="2200" dirty="0">
              <a:solidFill>
                <a:schemeClr val="bg1"/>
              </a:solidFill>
              <a:latin typeface="Abadi" panose="020B0604020104020204" pitchFamily="34" charset="0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503605" y="5015864"/>
            <a:ext cx="3396369" cy="908960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33867" tIns="33867" rIns="33867" bIns="33867" rtlCol="0" anchor="ctr"/>
          <a:lstStyle/>
          <a:p>
            <a:pPr algn="ctr">
              <a:lnSpc>
                <a:spcPts val="2986"/>
              </a:lnSpc>
            </a:pPr>
            <a:r>
              <a:rPr lang="en-US" sz="2200" dirty="0">
                <a:solidFill>
                  <a:srgbClr val="FFFFFF"/>
                </a:solidFill>
                <a:latin typeface="Abadi" panose="020B0604020104020204" pitchFamily="34" charset="0"/>
                <a:ea typeface="Times New Roman MT"/>
                <a:cs typeface="Times New Roman MT"/>
                <a:sym typeface="Times New Roman MT"/>
              </a:rPr>
              <a:t>Designing Accurate Visuals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57371" y="1568043"/>
            <a:ext cx="3185897" cy="903824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33867" tIns="33867" rIns="33867" bIns="33867" rtlCol="0" anchor="ctr"/>
          <a:lstStyle/>
          <a:p>
            <a:pPr algn="ctr">
              <a:lnSpc>
                <a:spcPts val="3173"/>
              </a:lnSpc>
            </a:pPr>
            <a:r>
              <a:rPr lang="en-IN" sz="2400" dirty="0">
                <a:solidFill>
                  <a:schemeClr val="bg1"/>
                </a:solidFill>
              </a:rPr>
              <a:t>Complex Time Conversion</a:t>
            </a:r>
            <a:endParaRPr lang="en-US" sz="2200" dirty="0">
              <a:solidFill>
                <a:schemeClr val="bg1"/>
              </a:solidFill>
              <a:latin typeface="Abadi" panose="020B0604020104020204" pitchFamily="34" charset="0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257370" y="3225787"/>
            <a:ext cx="3185898" cy="903825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33867" tIns="33867" rIns="33867" bIns="33867" rtlCol="0" anchor="ctr"/>
          <a:lstStyle/>
          <a:p>
            <a:pPr algn="ctr">
              <a:lnSpc>
                <a:spcPts val="3453"/>
              </a:lnSpc>
            </a:pPr>
            <a:r>
              <a:rPr lang="en-IN" sz="2400" dirty="0">
                <a:solidFill>
                  <a:schemeClr val="bg1"/>
                </a:solidFill>
              </a:rPr>
              <a:t>Feature Engineering Difficulty</a:t>
            </a:r>
            <a:endParaRPr lang="en-US" sz="2200" dirty="0">
              <a:solidFill>
                <a:schemeClr val="bg1"/>
              </a:solidFill>
              <a:latin typeface="Abadi" panose="020B0604020104020204" pitchFamily="34" charset="0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257370" y="5015864"/>
            <a:ext cx="3185898" cy="903824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33867" tIns="33867" rIns="33867" bIns="33867" rtlCol="0" anchor="ctr"/>
          <a:lstStyle/>
          <a:p>
            <a:pPr algn="ctr">
              <a:lnSpc>
                <a:spcPts val="3079"/>
              </a:lnSpc>
            </a:pPr>
            <a:r>
              <a:rPr lang="en-US" sz="2400" dirty="0">
                <a:solidFill>
                  <a:schemeClr val="bg1"/>
                </a:solidFill>
              </a:rPr>
              <a:t>Identifying Patterns Across Seasons &amp; Routes</a:t>
            </a:r>
            <a:endParaRPr lang="en-US" sz="2199" dirty="0">
              <a:solidFill>
                <a:schemeClr val="bg1"/>
              </a:solidFill>
              <a:latin typeface="Abadi" panose="020B0604020104020204" pitchFamily="34" charset="0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03605" y="1568044"/>
            <a:ext cx="3396369" cy="936910"/>
          </a:xfrm>
          <a:prstGeom prst="rect">
            <a:avLst/>
          </a:prstGeom>
          <a:solidFill>
            <a:srgbClr val="4B55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33867" tIns="33867" rIns="33867" bIns="33867" rtlCol="0" anchor="ctr"/>
          <a:lstStyle/>
          <a:p>
            <a:pPr algn="ctr">
              <a:lnSpc>
                <a:spcPts val="3173"/>
              </a:lnSpc>
            </a:pPr>
            <a:r>
              <a:rPr lang="en-IN" sz="2400" dirty="0">
                <a:solidFill>
                  <a:schemeClr val="bg1"/>
                </a:solidFill>
              </a:rPr>
              <a:t>Handling Missing &amp; Inconsistent Data</a:t>
            </a:r>
            <a:endParaRPr lang="en-US" sz="2200" dirty="0">
              <a:solidFill>
                <a:schemeClr val="bg1"/>
              </a:solidFill>
              <a:latin typeface="Abadi" panose="020B0604020104020204" pitchFamily="34" charset="0"/>
              <a:ea typeface="Times New Roman MT"/>
              <a:cs typeface="Times New Roman MT"/>
              <a:sym typeface="Times New Roman M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BE052-6E9E-52A4-B9CF-72CDA354F7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48846">
            <a:off x="-2760606" y="-1584123"/>
            <a:ext cx="5962650" cy="2981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0F79DA-1772-5D5C-1DF8-6ABFD83AF0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7719">
            <a:off x="9846077" y="5625195"/>
            <a:ext cx="5962650" cy="2981325"/>
          </a:xfrm>
          <a:prstGeom prst="rect">
            <a:avLst/>
          </a:prstGeom>
        </p:spPr>
      </p:pic>
      <p:sp>
        <p:nvSpPr>
          <p:cNvPr id="2" name="Freeform 24">
            <a:extLst>
              <a:ext uri="{FF2B5EF4-FFF2-40B4-BE49-F238E27FC236}">
                <a16:creationId xmlns:a16="http://schemas.microsoft.com/office/drawing/2014/main" id="{0C0D83B6-3B13-42E6-8943-76B8522E43AE}"/>
              </a:ext>
            </a:extLst>
          </p:cNvPr>
          <p:cNvSpPr/>
          <p:nvPr/>
        </p:nvSpPr>
        <p:spPr>
          <a:xfrm>
            <a:off x="1133610" y="3106714"/>
            <a:ext cx="1055670" cy="1023712"/>
          </a:xfrm>
          <a:custGeom>
            <a:avLst/>
            <a:gdLst/>
            <a:ahLst/>
            <a:cxnLst/>
            <a:rect l="l" t="t" r="r" b="b"/>
            <a:pathLst>
              <a:path w="1993086" h="1993086">
                <a:moveTo>
                  <a:pt x="0" y="0"/>
                </a:moveTo>
                <a:lnTo>
                  <a:pt x="1993086" y="0"/>
                </a:lnTo>
                <a:lnTo>
                  <a:pt x="1993086" y="1993086"/>
                </a:lnTo>
                <a:lnTo>
                  <a:pt x="0" y="19930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C172CA-3002-802B-C136-12025A5773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0B83D30-8681-0D89-E512-A8C0A07BEB17}"/>
              </a:ext>
            </a:extLst>
          </p:cNvPr>
          <p:cNvSpPr/>
          <p:nvPr/>
        </p:nvSpPr>
        <p:spPr>
          <a:xfrm>
            <a:off x="-3823138" y="-55178"/>
            <a:ext cx="7189076" cy="6913179"/>
          </a:xfrm>
          <a:prstGeom prst="flowChartConnector">
            <a:avLst/>
          </a:prstGeom>
          <a:solidFill>
            <a:srgbClr val="5A3E92"/>
          </a:soli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02B632DC-934E-6D1E-0EF5-52C14C50747D}"/>
              </a:ext>
            </a:extLst>
          </p:cNvPr>
          <p:cNvSpPr/>
          <p:nvPr/>
        </p:nvSpPr>
        <p:spPr>
          <a:xfrm>
            <a:off x="-3823138" y="-110378"/>
            <a:ext cx="7189076" cy="6913179"/>
          </a:xfrm>
          <a:prstGeom prst="flowChartConnector">
            <a:avLst/>
          </a:prstGeom>
          <a:solidFill>
            <a:srgbClr val="7F3D93"/>
          </a:soli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5CC343BE-5632-E8BD-ACAA-1F0CBFAD3FCB}"/>
              </a:ext>
            </a:extLst>
          </p:cNvPr>
          <p:cNvSpPr/>
          <p:nvPr/>
        </p:nvSpPr>
        <p:spPr>
          <a:xfrm>
            <a:off x="-3823138" y="-34172"/>
            <a:ext cx="7189076" cy="6913179"/>
          </a:xfrm>
          <a:prstGeom prst="flowChartConnector">
            <a:avLst/>
          </a:prstGeom>
          <a:solidFill>
            <a:srgbClr val="B068B8"/>
          </a:soli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DBC6F4B-D5A3-CCD6-F9CE-7D9090BD36B8}"/>
              </a:ext>
            </a:extLst>
          </p:cNvPr>
          <p:cNvSpPr/>
          <p:nvPr/>
        </p:nvSpPr>
        <p:spPr>
          <a:xfrm>
            <a:off x="-3823138" y="-76194"/>
            <a:ext cx="7189076" cy="6913179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0E13330-EC4E-1C6E-8F58-C11B34A6C8C6}"/>
              </a:ext>
            </a:extLst>
          </p:cNvPr>
          <p:cNvSpPr/>
          <p:nvPr/>
        </p:nvSpPr>
        <p:spPr>
          <a:xfrm>
            <a:off x="-3823138" y="-55178"/>
            <a:ext cx="7189076" cy="6913179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18B5BAB-4F17-0F3C-8E5B-EECCC6146CEF}"/>
              </a:ext>
            </a:extLst>
          </p:cNvPr>
          <p:cNvSpPr/>
          <p:nvPr/>
        </p:nvSpPr>
        <p:spPr>
          <a:xfrm>
            <a:off x="-3823138" y="-43269"/>
            <a:ext cx="7189076" cy="70104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445868-7E2B-C097-5ACE-AC5A1935C69A}"/>
              </a:ext>
            </a:extLst>
          </p:cNvPr>
          <p:cNvSpPr txBox="1"/>
          <p:nvPr/>
        </p:nvSpPr>
        <p:spPr>
          <a:xfrm>
            <a:off x="-76200" y="2255693"/>
            <a:ext cx="34421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Graphic 19" descr="Lightbulb and gear with solid fill">
            <a:extLst>
              <a:ext uri="{FF2B5EF4-FFF2-40B4-BE49-F238E27FC236}">
                <a16:creationId xmlns:a16="http://schemas.microsoft.com/office/drawing/2014/main" id="{076BD98C-9B04-2EBF-9FE1-FE03F5552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260" y="3200367"/>
            <a:ext cx="1397701" cy="139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0084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DDC5-57AF-05C8-94D7-4C8127DF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ABC9A0-FDC6-9E68-C7A5-D97F4E6792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ED425AED-5E57-6A3D-1981-4C0CD1857E63}"/>
              </a:ext>
            </a:extLst>
          </p:cNvPr>
          <p:cNvSpPr/>
          <p:nvPr/>
        </p:nvSpPr>
        <p:spPr>
          <a:xfrm>
            <a:off x="5002924" y="-121122"/>
            <a:ext cx="7189076" cy="6946848"/>
          </a:xfrm>
          <a:prstGeom prst="flowChartConnector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C88BF82-130D-DC24-C3A6-E99A4BC37765}"/>
              </a:ext>
            </a:extLst>
          </p:cNvPr>
          <p:cNvSpPr/>
          <p:nvPr/>
        </p:nvSpPr>
        <p:spPr>
          <a:xfrm>
            <a:off x="2939128" y="-136564"/>
            <a:ext cx="7189076" cy="7059510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44704FF-3FA7-3A5A-84BD-50C8119ECAA6}"/>
              </a:ext>
            </a:extLst>
          </p:cNvPr>
          <p:cNvSpPr/>
          <p:nvPr/>
        </p:nvSpPr>
        <p:spPr>
          <a:xfrm>
            <a:off x="610635" y="-121122"/>
            <a:ext cx="7428653" cy="7093177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9B10860-724F-6FFD-6CC6-2F8B91A6362D}"/>
              </a:ext>
            </a:extLst>
          </p:cNvPr>
          <p:cNvSpPr/>
          <p:nvPr/>
        </p:nvSpPr>
        <p:spPr>
          <a:xfrm>
            <a:off x="-1653495" y="-104289"/>
            <a:ext cx="7189076" cy="7059510"/>
          </a:xfrm>
          <a:prstGeom prst="flowChartConnector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57CA67D-3FE0-1719-97BE-29D76CF855FB}"/>
              </a:ext>
            </a:extLst>
          </p:cNvPr>
          <p:cNvSpPr/>
          <p:nvPr/>
        </p:nvSpPr>
        <p:spPr>
          <a:xfrm>
            <a:off x="-4157202" y="-87455"/>
            <a:ext cx="7189076" cy="7059509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65100" dist="38100" dir="4800000" sx="101000" sy="101000" algn="t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DB806-A78C-339E-E8B8-2B1C192C2E22}"/>
              </a:ext>
            </a:extLst>
          </p:cNvPr>
          <p:cNvSpPr txBox="1"/>
          <p:nvPr/>
        </p:nvSpPr>
        <p:spPr>
          <a:xfrm>
            <a:off x="610636" y="3096480"/>
            <a:ext cx="2285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Integration</a:t>
            </a:r>
          </a:p>
        </p:txBody>
      </p:sp>
      <p:pic>
        <p:nvPicPr>
          <p:cNvPr id="15" name="Graphic 14" descr="Clock with solid fill">
            <a:extLst>
              <a:ext uri="{FF2B5EF4-FFF2-40B4-BE49-F238E27FC236}">
                <a16:creationId xmlns:a16="http://schemas.microsoft.com/office/drawing/2014/main" id="{E9C45CEC-22B7-FEF7-96AA-3AFDE3D72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843" y="2285966"/>
            <a:ext cx="914400" cy="914400"/>
          </a:xfrm>
          <a:prstGeom prst="rect">
            <a:avLst/>
          </a:prstGeom>
        </p:spPr>
      </p:pic>
      <p:pic>
        <p:nvPicPr>
          <p:cNvPr id="17" name="Graphic 16" descr="Statistics with solid fill">
            <a:extLst>
              <a:ext uri="{FF2B5EF4-FFF2-40B4-BE49-F238E27FC236}">
                <a16:creationId xmlns:a16="http://schemas.microsoft.com/office/drawing/2014/main" id="{35E24160-E5D0-8736-A410-82E8526FE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28508" y="2347530"/>
            <a:ext cx="852836" cy="8528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862E35-64D6-855E-F2E3-2553A2C8E60E}"/>
              </a:ext>
            </a:extLst>
          </p:cNvPr>
          <p:cNvSpPr txBox="1"/>
          <p:nvPr/>
        </p:nvSpPr>
        <p:spPr>
          <a:xfrm>
            <a:off x="3274691" y="3154119"/>
            <a:ext cx="1839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31C684-E638-8208-2021-661C73206A71}"/>
              </a:ext>
            </a:extLst>
          </p:cNvPr>
          <p:cNvSpPr txBox="1"/>
          <p:nvPr/>
        </p:nvSpPr>
        <p:spPr>
          <a:xfrm>
            <a:off x="5309587" y="3166141"/>
            <a:ext cx="2650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</a:p>
        </p:txBody>
      </p:sp>
      <p:pic>
        <p:nvPicPr>
          <p:cNvPr id="22" name="Graphic 21" descr="Earth globe: Africa and Europe with solid fill">
            <a:extLst>
              <a:ext uri="{FF2B5EF4-FFF2-40B4-BE49-F238E27FC236}">
                <a16:creationId xmlns:a16="http://schemas.microsoft.com/office/drawing/2014/main" id="{32CCD584-451F-61C0-1F25-79BCD13045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2816" y="2341817"/>
            <a:ext cx="824324" cy="82432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B825F7A-B0E1-1A2B-A548-737B101432EB}"/>
              </a:ext>
            </a:extLst>
          </p:cNvPr>
          <p:cNvSpPr txBox="1"/>
          <p:nvPr/>
        </p:nvSpPr>
        <p:spPr>
          <a:xfrm>
            <a:off x="8069755" y="3200366"/>
            <a:ext cx="1948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Insights</a:t>
            </a:r>
          </a:p>
        </p:txBody>
      </p:sp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74D6D7E2-66B2-C699-5252-D1BAB087AE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7463" y="2397057"/>
            <a:ext cx="824647" cy="82464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296BEB1-C2EF-DCAA-DC52-1CE1DEA0ADF3}"/>
              </a:ext>
            </a:extLst>
          </p:cNvPr>
          <p:cNvSpPr txBox="1"/>
          <p:nvPr/>
        </p:nvSpPr>
        <p:spPr>
          <a:xfrm>
            <a:off x="10185672" y="3200366"/>
            <a:ext cx="1839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</p:txBody>
      </p:sp>
      <p:pic>
        <p:nvPicPr>
          <p:cNvPr id="28" name="Graphic 27" descr="Thought bubble with solid fill">
            <a:extLst>
              <a:ext uri="{FF2B5EF4-FFF2-40B4-BE49-F238E27FC236}">
                <a16:creationId xmlns:a16="http://schemas.microsoft.com/office/drawing/2014/main" id="{9D33C38D-E5AE-5DA6-C59F-2640CE39B3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783211" y="2397057"/>
            <a:ext cx="753783" cy="75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78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CD01633-8E3D-77EF-0E93-7AC462F3AF9B}"/>
              </a:ext>
            </a:extLst>
          </p:cNvPr>
          <p:cNvSpPr/>
          <p:nvPr/>
        </p:nvSpPr>
        <p:spPr>
          <a:xfrm>
            <a:off x="0" y="-38962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307629" y="1205662"/>
            <a:ext cx="5763331" cy="2711779"/>
            <a:chOff x="0" y="0"/>
            <a:chExt cx="2276872" cy="1106361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276871" cy="1106361"/>
            </a:xfrm>
            <a:prstGeom prst="flowChartAlternateProcess">
              <a:avLst/>
            </a:prstGeom>
            <a:grpFill/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76872" cy="1182561"/>
            </a:xfrm>
            <a:prstGeom prst="flowChartAlternateProcess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304232" y="1034089"/>
            <a:ext cx="1585479" cy="1585479"/>
          </a:xfrm>
          <a:custGeom>
            <a:avLst/>
            <a:gdLst/>
            <a:ahLst/>
            <a:cxnLst/>
            <a:rect l="l" t="t" r="r" b="b"/>
            <a:pathLst>
              <a:path w="2378218" h="2378218">
                <a:moveTo>
                  <a:pt x="0" y="0"/>
                </a:moveTo>
                <a:lnTo>
                  <a:pt x="2378218" y="0"/>
                </a:lnTo>
                <a:lnTo>
                  <a:pt x="2378218" y="2378218"/>
                </a:lnTo>
                <a:lnTo>
                  <a:pt x="0" y="2378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163648" y="1205662"/>
            <a:ext cx="5911347" cy="2711779"/>
            <a:chOff x="0" y="0"/>
            <a:chExt cx="2335347" cy="11063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35347" cy="1106361"/>
            </a:xfrm>
            <a:prstGeom prst="roundRect">
              <a:avLst/>
            </a:pr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335347" cy="1182561"/>
            </a:xfrm>
            <a:prstGeom prst="round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617209" y="1205662"/>
            <a:ext cx="1242333" cy="1242333"/>
          </a:xfrm>
          <a:custGeom>
            <a:avLst/>
            <a:gdLst/>
            <a:ahLst/>
            <a:cxnLst/>
            <a:rect l="l" t="t" r="r" b="b"/>
            <a:pathLst>
              <a:path w="1863499" h="1863499">
                <a:moveTo>
                  <a:pt x="0" y="0"/>
                </a:moveTo>
                <a:lnTo>
                  <a:pt x="1863499" y="0"/>
                </a:lnTo>
                <a:lnTo>
                  <a:pt x="1863499" y="1863498"/>
                </a:lnTo>
                <a:lnTo>
                  <a:pt x="0" y="186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307629" y="4198374"/>
            <a:ext cx="5671365" cy="2536953"/>
            <a:chOff x="0" y="0"/>
            <a:chExt cx="2276872" cy="1009683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6871" cy="1009683"/>
            </a:xfrm>
            <a:prstGeom prst="roundRect">
              <a:avLst/>
            </a:prstGeom>
            <a:grpFill/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2276872" cy="1085883"/>
            </a:xfrm>
            <a:prstGeom prst="round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2548133" y="3906368"/>
            <a:ext cx="1190353" cy="1119817"/>
          </a:xfrm>
          <a:custGeom>
            <a:avLst/>
            <a:gdLst/>
            <a:ahLst/>
            <a:cxnLst/>
            <a:rect l="l" t="t" r="r" b="b"/>
            <a:pathLst>
              <a:path w="1812972" h="1410217">
                <a:moveTo>
                  <a:pt x="0" y="0"/>
                </a:moveTo>
                <a:lnTo>
                  <a:pt x="1812973" y="0"/>
                </a:lnTo>
                <a:lnTo>
                  <a:pt x="1812973" y="1410217"/>
                </a:lnTo>
                <a:lnTo>
                  <a:pt x="0" y="1410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28" r="-5089"/>
            </a:stretch>
          </a:blipFill>
        </p:spPr>
        <p:txBody>
          <a:bodyPr/>
          <a:lstStyle/>
          <a:p>
            <a:endParaRPr lang="en-IN" sz="1200" dirty="0"/>
          </a:p>
        </p:txBody>
      </p:sp>
      <p:grpSp>
        <p:nvGrpSpPr>
          <p:cNvPr id="17" name="Group 17"/>
          <p:cNvGrpSpPr/>
          <p:nvPr/>
        </p:nvGrpSpPr>
        <p:grpSpPr>
          <a:xfrm>
            <a:off x="6129821" y="4198373"/>
            <a:ext cx="5945174" cy="2536953"/>
            <a:chOff x="0" y="0"/>
            <a:chExt cx="2335347" cy="100968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35347" cy="1009683"/>
            </a:xfrm>
            <a:prstGeom prst="roundRect">
              <a:avLst/>
            </a:prstGeom>
            <a:grpFill/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2335347" cy="1085883"/>
            </a:xfrm>
            <a:prstGeom prst="round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0" name="Freeform 20"/>
          <p:cNvSpPr/>
          <p:nvPr/>
        </p:nvSpPr>
        <p:spPr>
          <a:xfrm>
            <a:off x="8674209" y="4006139"/>
            <a:ext cx="1060100" cy="866790"/>
          </a:xfrm>
          <a:custGeom>
            <a:avLst/>
            <a:gdLst/>
            <a:ahLst/>
            <a:cxnLst/>
            <a:rect l="l" t="t" r="r" b="b"/>
            <a:pathLst>
              <a:path w="1777998" h="1224353">
                <a:moveTo>
                  <a:pt x="0" y="0"/>
                </a:moveTo>
                <a:lnTo>
                  <a:pt x="1777998" y="0"/>
                </a:lnTo>
                <a:lnTo>
                  <a:pt x="1777998" y="1224352"/>
                </a:lnTo>
                <a:lnTo>
                  <a:pt x="0" y="122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057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3999030" y="233794"/>
            <a:ext cx="3725917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6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Britannic Bold" panose="020B0903060703020204" pitchFamily="34" charset="0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7964" y="2417460"/>
            <a:ext cx="5474024" cy="1236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  <a:spcBef>
                <a:spcPct val="0"/>
              </a:spcBef>
            </a:pPr>
            <a:r>
              <a:rPr lang="en-US" sz="1867" b="1" dirty="0">
                <a:solidFill>
                  <a:srgbClr val="000000"/>
                </a:solidFill>
                <a:latin typeface="+mj-lt"/>
                <a:ea typeface="Times New Roman MT Bold"/>
                <a:cs typeface="Times New Roman MT Bold"/>
                <a:sym typeface="Times New Roman MT Bold"/>
              </a:rPr>
              <a:t>Successful Project Execution</a:t>
            </a:r>
          </a:p>
          <a:p>
            <a:pPr algn="just">
              <a:lnSpc>
                <a:spcPts val="2527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project effectively covered the entire data analytics lifecycle, including data collection, cleaning, transformation, visualization, and deployment, achieving the set objectives.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49024" y="2434567"/>
            <a:ext cx="5606041" cy="1284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8"/>
              </a:lnSpc>
              <a:spcBef>
                <a:spcPct val="0"/>
              </a:spcBef>
            </a:pPr>
            <a:r>
              <a:rPr lang="en-US" sz="1867" b="1" dirty="0">
                <a:solidFill>
                  <a:srgbClr val="000000"/>
                </a:solidFill>
                <a:latin typeface="+mj-lt"/>
                <a:ea typeface="Times New Roman MT Bold"/>
                <a:cs typeface="Times New Roman MT Bold"/>
                <a:sym typeface="Times New Roman MT Bold"/>
              </a:rPr>
              <a:t>Insightful Dashboard Development</a:t>
            </a:r>
          </a:p>
          <a:p>
            <a:pPr algn="just">
              <a:lnSpc>
                <a:spcPts val="2555"/>
              </a:lnSpc>
              <a:spcBef>
                <a:spcPct val="0"/>
              </a:spcBef>
            </a:pPr>
            <a:r>
              <a:rPr lang="en-US" sz="1600" dirty="0"/>
              <a:t>The Power BI dashboards offered clear insights into flight operations, delays, cancellations, and route performance, making complex airline data easy to interpret and analyze.</a:t>
            </a:r>
            <a:endParaRPr lang="en-US" sz="1825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87964" y="4872929"/>
            <a:ext cx="5523245" cy="204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867" b="1" dirty="0">
                <a:solidFill>
                  <a:srgbClr val="000000"/>
                </a:solidFill>
                <a:latin typeface="+mj-lt"/>
                <a:ea typeface="Times New Roman MT Bold"/>
                <a:cs typeface="Times New Roman MT Bold"/>
                <a:sym typeface="Times New Roman MT Bold"/>
              </a:rPr>
              <a:t>Real-World Impact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provides valuable insights for airlines, airports, and aviation authorities, enabling them to make data-driven decisions to improve scheduling, reduce delays, and enhance overall operational efficiency</a:t>
            </a:r>
            <a:r>
              <a:rPr lang="en-US" sz="1600" dirty="0"/>
              <a:t>.</a:t>
            </a:r>
          </a:p>
          <a:p>
            <a:pPr algn="just">
              <a:lnSpc>
                <a:spcPts val="2323"/>
              </a:lnSpc>
              <a:spcBef>
                <a:spcPct val="0"/>
              </a:spcBef>
            </a:pPr>
            <a:endParaRPr lang="en-US" sz="1806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488037" y="4890142"/>
            <a:ext cx="5500675" cy="173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4"/>
              </a:lnSpc>
              <a:spcBef>
                <a:spcPct val="0"/>
              </a:spcBef>
            </a:pPr>
            <a:r>
              <a:rPr lang="en-US" sz="1867" b="1" dirty="0">
                <a:solidFill>
                  <a:srgbClr val="000000"/>
                </a:solidFill>
                <a:latin typeface="+mj-lt"/>
                <a:ea typeface="Times New Roman MT Bold"/>
                <a:cs typeface="Times New Roman MT Bold"/>
                <a:sym typeface="Times New Roman MT Bold"/>
              </a:rPr>
              <a:t> Scope for Future Growth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With enhancements like real-time flight data integration, predictive delay analytics, and advanced route optimization, this project can grow into a powerful decision-support tool for airlines and airport authorities.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9F9F35-1BA8-5FF7-95E7-CEE09B548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3579"/>
            <a:ext cx="12192000" cy="6965157"/>
          </a:xfrm>
          <a:prstGeom prst="rect">
            <a:avLst/>
          </a:prstGeom>
        </p:spPr>
      </p:pic>
      <p:sp>
        <p:nvSpPr>
          <p:cNvPr id="4" name="Freeform 6">
            <a:extLst>
              <a:ext uri="{FF2B5EF4-FFF2-40B4-BE49-F238E27FC236}">
                <a16:creationId xmlns:a16="http://schemas.microsoft.com/office/drawing/2014/main" id="{940790BE-2762-7AD8-85E0-77EDE7329C8C}"/>
              </a:ext>
            </a:extLst>
          </p:cNvPr>
          <p:cNvSpPr/>
          <p:nvPr/>
        </p:nvSpPr>
        <p:spPr>
          <a:xfrm rot="1122844">
            <a:off x="42985" y="-864504"/>
            <a:ext cx="3558396" cy="2743200"/>
          </a:xfrm>
          <a:custGeom>
            <a:avLst/>
            <a:gdLst/>
            <a:ahLst/>
            <a:cxnLst/>
            <a:rect l="l" t="t" r="r" b="b"/>
            <a:pathLst>
              <a:path w="5337594" h="4114800">
                <a:moveTo>
                  <a:pt x="0" y="0"/>
                </a:moveTo>
                <a:lnTo>
                  <a:pt x="5337594" y="0"/>
                </a:lnTo>
                <a:lnTo>
                  <a:pt x="5337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8028F-06E8-7E0A-8079-9C13004646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0079">
            <a:off x="7215229" y="5026678"/>
            <a:ext cx="5153376" cy="257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706</TotalTime>
  <Words>873</Words>
  <Application>Microsoft Office PowerPoint</Application>
  <PresentationFormat>Widescreen</PresentationFormat>
  <Paragraphs>108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Abadi</vt:lpstr>
      <vt:lpstr>Aptos</vt:lpstr>
      <vt:lpstr>Arial</vt:lpstr>
      <vt:lpstr>Britannic Bold</vt:lpstr>
      <vt:lpstr>Calibri</vt:lpstr>
      <vt:lpstr>Calibri Light</vt:lpstr>
      <vt:lpstr>Copperplate Gothic Bold</vt:lpstr>
      <vt:lpstr>Times New Roman</vt:lpstr>
      <vt:lpstr>Times New Roman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Kushi Smiles</dc:creator>
  <cp:lastModifiedBy>Safrin M</cp:lastModifiedBy>
  <cp:revision>8</cp:revision>
  <dcterms:created xsi:type="dcterms:W3CDTF">2025-09-26T05:04:47Z</dcterms:created>
  <dcterms:modified xsi:type="dcterms:W3CDTF">2025-11-15T02:21:49Z</dcterms:modified>
</cp:coreProperties>
</file>